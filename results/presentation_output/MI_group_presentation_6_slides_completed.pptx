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began by visualising individual hearts over ten frames. The three anatomical surfaces provide geometry and temporal information, while demographics offer complementary risk factors.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the 95th percentile of point-wise movement across consecutive frames. 84 of 900 training patients exceeded our exploratory cutoff of 15. This might reflect atypical motion or point correspondence, but corruption is not established. QC-gating the separate 100 patients flagged none, and did not improve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Myocardial infarction can cause regional wall-motion abnormalities: affected segments may contract less strongly. We therefore divided each anatomical surface into three longitudinal tertiles using an unsupervised PCA axis (these are not validated clinical AHA segments). We engineered movement and radial-change features, alongside whole-heart geometry and demographics.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classical models and varied feature sets. Macro-F1 figures 0.723, 0.774 and 0.817 are cross-validated results on 900 labelled patients (baseline demographics / anatomy / combined). A large hyperparameter search reached 0.850 on an internal 180-patient holdout, but generalised to only 0.710 macro-F1 on the separate 100. This prompted an alternative representation-learning approach from our teammate.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saved model uses 8 latent dimensions and dropout 0.1. The experiment is named mi-vae-z15, but the saved configuration is authoritative. The current VAEConfig default is 15; that is not the evaluated model.</ns1:t>
            </ns1:r>
          </ns1:p>
          <ns1:p>
            <ns1:r>
              <ns1:t/>
            </ns1:r>
          </ns1:p>
          <ns1:p>
            <ns1:r>
              <ns1:t>Input: ten frames and 384 correspondence-preserving sampled points, 128 per anatomical region. XYZ and region embeddings enter the encoder. Sixteen learned queries pool each frame. Two axial blocks apply spatial attention then temporal attention with width 384 and eight heads. Mean pooling produces the two Gaussian parameter heads. Reconstruction samples z during training. The decoder has one axial block and reconstructs the sampled XYZ coordinates without encoder shortcuts.</ns1:t>
            </ns1:r>
          </ns1:p>
          <ns1:p>
            <ns1:r>
              <ns1:t/>
            </ns1:r>
          </ns1:p>
          <ns1:p>
            <ns1:r>
              <ns1:t>Classification uses the deterministic posterior mean plus seven demographics, then hidden layers of 128 and 64 units. Demographics enter only this head.</ns1:t>
            </ns1:r>
          </ns1:p>
          <ns1:p>
            <ns1:r>
              <ns1:t/>
            </ns1:r>
          </ns1:p>
          <ns1:p>
            <ns1:r>
              <ns1:t>Original 60:20:20 patient split, seed 42: 540 training, 180 validation, 180 held-out test. Quality filtering leaves 521 training, 174 validation and 173 internal test patients. Scaling is fitted on training patients only. AdamW learning rate 0.0003, weight decay 0.001, batch size 8. KL weight warms to 0.01 over ten epochs. The selected checkpoint is epoch 683, chosen by validation macro-F1 0.792665.</ns1:t>
            </ns1:r>
          </ns1:p>
          <ns1:p>
            <ns1:r>
              <ns1:t/>
            </ns1:r>
          </ns1:p>
          <ns1:p>
            <ns1:r>
              <ns1:t>Sources: /Users/thartigan/Documents/Classes/ML/myocardia_prediction_project/src/mcpp/vae.py; /Users/thartigan/Documents/Classes/ML/myocardia_prediction_project/src/mcpp/vae_training.py; /Users/thartigan/Documents/Classes/ML/myocardia_prediction_project/results/vae_training/mi-vae-z15/experiment.json; /Users/thartigan/Documents/Classes/ML/myocardia_prediction_project/results/vae_training/mi-vae-z15/final_evaluation/val_best/mi_classification_report.json.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Independent evaluation of the saved epoch-683 model on all 100 labelled patients in data/test_samples/test.csv, patient IDs 900–999. No quality exclusions. This is the labelled external test set, not the later test_samples_final submission dataset, for which predictions alone do not establish performance.</ns1:t>
            </ns1:r>
          </ns1:p>
          <ns1:p>
            <ns1:r>
              <ns1:t/>
            </ns1:r>
          </ns1:p>
          <ns1:p>
            <ns1:r>
              <ns1:t>Macro-F1 0.8090644156366193; pMI F1 0.822429906542056; accuracy 0.81; ROC-AUC 0.8774038461538461. Class order is healthy, pMI. Confusion matrix rows are actual and columns predicted: [[37,11],[8,44]]. There are 48 healthy and 52 pMI patients. The model correctly classified 81, missed 8 pMI cases and classified 11 healthy patients as pMI.</ns1:t>
            </ns1:r>
          </ns1:p>
          <ns1:p>
            <ns1:r>
              <ns1:t/>
            </ns1:r>
          </ns1:p>
          <ns1:p>
            <ns1:r>
              <ns1:t>The engineered-feature baseline macro-F1 of 0.710 comes from slide 4 and its notes in the supplied presentation, described there as evaluation on the separate 100 patients. The VAE improves the reported macro-F1 by approximately 0.099. Baseline patient-level predictions were not available here for a paired comparison.</ns1:t>
            </ns1:r>
          </ns1:p>
          <ns1:p>
            <ns1:r>
              <ns1:t/>
            </ns1:r>
          </ns1:p>
          <ns1:p>
            <ns1:r>
              <ns1:t>The architecture learns spatial and temporal features jointly. These results alone do not establish which anatomical signals explain the gain; an ablation or interpretation study would be needed. The data are synthetic and the test sample is small. Clinical transfer remains untested.</ns1:t>
            </ns1:r>
          </ns1:p>
          <ns1:p>
            <ns1:r>
              <ns1:t/>
            </ns1:r>
          </ns1:p>
          <ns1:p>
            <ns1:r>
              <ns1:t>Sources: /Users/thartigan/Documents/Classes/ML/myocardia_prediction_project/results/vae_training/mi-vae-z15/final_evaluation/val_best/mi_classification_report.json; /Users/thartigan/Downloads/MI_group_presentation_6_slides.pptx, slide 4 and speaker notes.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93776"/>
            <a:ext cx="64008" cy="411480"/>
          </a:xfrm>
          <a:prstGeom prst="rect">
            <a:avLst/>
          </a:prstGeom>
          <a:solidFill>
            <a:srgbClr val="009B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789920" cy="384048"/>
          </a:xfrm>
          <a:prstGeom prst="rect">
            <a:avLst/>
          </a:prstGeom>
          <a:noFill/>
        </p:spPr>
        <p:txBody>
          <a:bodyPr wrap="square" lIns="27432" rIns="27432" tIns="36576">
            <a:spAutoFit/>
          </a:bodyPr>
          <a:lstStyle/>
          <a:p>
            <a:pPr algn="l">
              <a:spcAft>
                <a:spcPts val="600"/>
              </a:spcAft>
              <a:defRPr sz="2800" b="1">
                <a:solidFill>
                  <a:srgbClr val="F8FAFD"/>
                </a:solidFill>
              </a:defRPr>
            </a:pPr>
            <a:r>
              <a:t>Understanding the cardiac point clouds</a:t>
            </a:r>
          </a:p>
        </p:txBody>
      </p:sp>
      <p:sp>
        <p:nvSpPr>
          <p:cNvPr id="5" name="TextBox 4"/>
          <p:cNvSpPr txBox="1"/>
          <p:nvPr/>
        </p:nvSpPr>
        <p:spPr>
          <a:xfrm>
            <a:off x="749808" y="932688"/>
            <a:ext cx="10058400" cy="310896"/>
          </a:xfrm>
          <a:prstGeom prst="rect">
            <a:avLst/>
          </a:prstGeom>
          <a:noFill/>
        </p:spPr>
        <p:txBody>
          <a:bodyPr wrap="square" lIns="27432" rIns="27432" tIns="36576">
            <a:spAutoFit/>
          </a:bodyPr>
          <a:lstStyle/>
          <a:p>
            <a:pPr algn="l">
              <a:spcAft>
                <a:spcPts val="600"/>
              </a:spcAft>
              <a:defRPr sz="1200" b="0">
                <a:solidFill>
                  <a:srgbClr val="BECBD6"/>
                </a:solidFill>
              </a:defRPr>
            </a:pPr>
            <a:r>
              <a:t>DATA EXPLORATION  /  900 labelled patients + 100 additional evaluation patients</a:t>
            </a:r>
          </a:p>
        </p:txBody>
      </p:sp>
      <p:sp>
        <p:nvSpPr>
          <p:cNvPr id="6" name="Rectangle 5"/>
          <p:cNvSpPr/>
          <p:nvPr/>
        </p:nvSpPr>
        <p:spPr>
          <a:xfrm>
            <a:off x="594360" y="6437376"/>
            <a:ext cx="11018520" cy="15544"/>
          </a:xfrm>
          <a:prstGeom prst="rect">
            <a:avLst/>
          </a:prstGeom>
          <a:solidFill>
            <a:srgbClr val="415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83096"/>
            <a:ext cx="9144000" cy="228600"/>
          </a:xfrm>
          <a:prstGeom prst="rect">
            <a:avLst/>
          </a:prstGeom>
          <a:noFill/>
        </p:spPr>
        <p:txBody>
          <a:bodyPr wrap="square" lIns="27432" rIns="27432" tIns="36576">
            <a:spAutoFit/>
          </a:bodyPr>
          <a:lstStyle/>
          <a:p>
            <a:pPr algn="l">
              <a:spcAft>
                <a:spcPts val="600"/>
              </a:spcAft>
              <a:defRPr sz="900" b="0">
                <a:solidFill>
                  <a:srgbClr val="BECBD6"/>
                </a:solidFill>
              </a:defRPr>
            </a:pPr>
            <a:r>
              <a:t>MI classification · exploratory pipeline · group presentation</a:t>
            </a:r>
          </a:p>
        </p:txBody>
      </p:sp>
      <p:sp>
        <p:nvSpPr>
          <p:cNvPr id="8" name="TextBox 7"/>
          <p:cNvSpPr txBox="1"/>
          <p:nvPr/>
        </p:nvSpPr>
        <p:spPr>
          <a:xfrm>
            <a:off x="11128248" y="6483096"/>
            <a:ext cx="365760" cy="228600"/>
          </a:xfrm>
          <a:prstGeom prst="rect">
            <a:avLst/>
          </a:prstGeom>
          <a:noFill/>
        </p:spPr>
        <p:txBody>
          <a:bodyPr wrap="square" lIns="27432" rIns="27432" tIns="36576">
            <a:spAutoFit/>
          </a:bodyPr>
          <a:lstStyle/>
          <a:p>
            <a:pPr algn="l">
              <a:spcAft>
                <a:spcPts val="600"/>
              </a:spcAft>
              <a:defRPr sz="900" b="0">
                <a:solidFill>
                  <a:srgbClr val="BECBD6"/>
                </a:solidFill>
              </a:defRPr>
            </a:pPr>
            <a:r>
              <a:t>01</a:t>
            </a:r>
          </a:p>
        </p:txBody>
      </p:sp>
      <p:sp>
        <p:nvSpPr>
          <p:cNvPr id="9" name="Rounded Rectangle 8"/>
          <p:cNvSpPr/>
          <p:nvPr/>
        </p:nvSpPr>
        <p:spPr>
          <a:xfrm>
            <a:off x="758952" y="1517904"/>
            <a:ext cx="6263640" cy="4343400"/>
          </a:xfrm>
          <a:prstGeom prst="roundRect">
            <a:avLst/>
          </a:prstGeom>
          <a:solidFill>
            <a:srgbClr val="142A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1783080"/>
            <a:ext cx="5212080" cy="502920"/>
          </a:xfrm>
          <a:prstGeom prst="rect">
            <a:avLst/>
          </a:prstGeom>
          <a:noFill/>
        </p:spPr>
        <p:txBody>
          <a:bodyPr wrap="square" lIns="27432" rIns="27432" tIns="36576">
            <a:spAutoFit/>
          </a:bodyPr>
          <a:lstStyle/>
          <a:p>
            <a:pPr algn="l">
              <a:spcAft>
                <a:spcPts val="600"/>
              </a:spcAft>
              <a:defRPr sz="2300" b="1">
                <a:solidFill>
                  <a:srgbClr val="E6F4FA"/>
                </a:solidFill>
              </a:defRPr>
            </a:pPr>
            <a:r>
              <a:t>INSERT: 3D HEART VISUALISATION</a:t>
            </a:r>
          </a:p>
        </p:txBody>
      </p:sp>
      <p:sp>
        <p:nvSpPr>
          <p:cNvPr id="11" name="TextBox 10"/>
          <p:cNvSpPr txBox="1"/>
          <p:nvPr/>
        </p:nvSpPr>
        <p:spPr>
          <a:xfrm>
            <a:off x="1143000" y="2414016"/>
            <a:ext cx="5212080" cy="1188720"/>
          </a:xfrm>
          <a:prstGeom prst="rect">
            <a:avLst/>
          </a:prstGeom>
          <a:noFill/>
        </p:spPr>
        <p:txBody>
          <a:bodyPr wrap="square" lIns="27432" rIns="27432" tIns="36576">
            <a:spAutoFit/>
          </a:bodyPr>
          <a:lstStyle/>
          <a:p>
            <a:pPr algn="l">
              <a:spcAft>
                <a:spcPts val="600"/>
              </a:spcAft>
              <a:defRPr sz="1600" b="0">
                <a:solidFill>
                  <a:srgbClr val="BECBD6"/>
                </a:solidFill>
              </a:defRPr>
            </a:pPr>
            <a:r>
              <a:t>Use the generated figure:</a:t>
            </a:r>
          </a:p>
          <a:p>
            <a:pPr algn="l">
              <a:spcAft>
                <a:spcPts val="600"/>
              </a:spcAft>
              <a:defRPr sz="1600" b="0">
                <a:solidFill>
                  <a:srgbClr val="BECBD6"/>
                </a:solidFill>
              </a:defRPr>
            </a:pPr>
            <a:r>
              <a:t>results/presentation_figures/heart_structures.png</a:t>
            </a:r>
          </a:p>
        </p:txBody>
      </p:sp>
      <p:sp>
        <p:nvSpPr>
          <p:cNvPr id="12" name="Rounded Rectangle 11"/>
          <p:cNvSpPr/>
          <p:nvPr/>
        </p:nvSpPr>
        <p:spPr>
          <a:xfrm>
            <a:off x="1234440" y="4224528"/>
            <a:ext cx="320040" cy="320040"/>
          </a:xfrm>
          <a:prstGeom prst="roundRect">
            <a:avLst/>
          </a:prstGeom>
          <a:solidFill>
            <a:srgbClr val="009B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72768" y="4242816"/>
            <a:ext cx="1417320" cy="292608"/>
          </a:xfrm>
          <a:prstGeom prst="rect">
            <a:avLst/>
          </a:prstGeom>
          <a:noFill/>
        </p:spPr>
        <p:txBody>
          <a:bodyPr wrap="square" lIns="27432" rIns="27432" tIns="36576">
            <a:spAutoFit/>
          </a:bodyPr>
          <a:lstStyle/>
          <a:p>
            <a:pPr algn="l">
              <a:spcAft>
                <a:spcPts val="600"/>
              </a:spcAft>
              <a:defRPr sz="1300" b="0">
                <a:solidFill>
                  <a:srgbClr val="F8FAFD"/>
                </a:solidFill>
              </a:defRPr>
            </a:pPr>
            <a:r>
              <a:t>LV inner</a:t>
            </a:r>
          </a:p>
        </p:txBody>
      </p:sp>
      <p:sp>
        <p:nvSpPr>
          <p:cNvPr id="14" name="Rounded Rectangle 13"/>
          <p:cNvSpPr/>
          <p:nvPr/>
        </p:nvSpPr>
        <p:spPr>
          <a:xfrm>
            <a:off x="3099816" y="4224528"/>
            <a:ext cx="320040" cy="320040"/>
          </a:xfrm>
          <a:prstGeom prst="roundRect">
            <a:avLst/>
          </a:prstGeom>
          <a:solidFill>
            <a:srgbClr val="1C77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38144" y="4242816"/>
            <a:ext cx="1417320" cy="292608"/>
          </a:xfrm>
          <a:prstGeom prst="rect">
            <a:avLst/>
          </a:prstGeom>
          <a:noFill/>
        </p:spPr>
        <p:txBody>
          <a:bodyPr wrap="square" lIns="27432" rIns="27432" tIns="36576">
            <a:spAutoFit/>
          </a:bodyPr>
          <a:lstStyle/>
          <a:p>
            <a:pPr algn="l">
              <a:spcAft>
                <a:spcPts val="600"/>
              </a:spcAft>
              <a:defRPr sz="1300" b="0">
                <a:solidFill>
                  <a:srgbClr val="F8FAFD"/>
                </a:solidFill>
              </a:defRPr>
            </a:pPr>
            <a:r>
              <a:t>LV outer</a:t>
            </a:r>
          </a:p>
        </p:txBody>
      </p:sp>
      <p:sp>
        <p:nvSpPr>
          <p:cNvPr id="16" name="Rounded Rectangle 15"/>
          <p:cNvSpPr/>
          <p:nvPr/>
        </p:nvSpPr>
        <p:spPr>
          <a:xfrm>
            <a:off x="4965192" y="4224528"/>
            <a:ext cx="320040" cy="320040"/>
          </a:xfrm>
          <a:prstGeom prst="roundRect">
            <a:avLst/>
          </a:prstGeom>
          <a:solidFill>
            <a:srgbClr val="E978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0" y="4242816"/>
            <a:ext cx="1417320" cy="292608"/>
          </a:xfrm>
          <a:prstGeom prst="rect">
            <a:avLst/>
          </a:prstGeom>
          <a:noFill/>
        </p:spPr>
        <p:txBody>
          <a:bodyPr wrap="square" lIns="27432" rIns="27432" tIns="36576">
            <a:spAutoFit/>
          </a:bodyPr>
          <a:lstStyle/>
          <a:p>
            <a:pPr algn="l">
              <a:spcAft>
                <a:spcPts val="600"/>
              </a:spcAft>
              <a:defRPr sz="1300" b="0">
                <a:solidFill>
                  <a:srgbClr val="F8FAFD"/>
                </a:solidFill>
              </a:defRPr>
            </a:pPr>
            <a:r>
              <a:t>RV</a:t>
            </a:r>
          </a:p>
        </p:txBody>
      </p:sp>
      <p:sp>
        <p:nvSpPr>
          <p:cNvPr id="18" name="TextBox 17"/>
          <p:cNvSpPr txBox="1"/>
          <p:nvPr/>
        </p:nvSpPr>
        <p:spPr>
          <a:xfrm>
            <a:off x="7452360" y="1600200"/>
            <a:ext cx="4206240" cy="365760"/>
          </a:xfrm>
          <a:prstGeom prst="rect">
            <a:avLst/>
          </a:prstGeom>
          <a:noFill/>
        </p:spPr>
        <p:txBody>
          <a:bodyPr wrap="square" lIns="27432" rIns="27432" tIns="36576">
            <a:spAutoFit/>
          </a:bodyPr>
          <a:lstStyle/>
          <a:p>
            <a:pPr algn="l">
              <a:spcAft>
                <a:spcPts val="600"/>
              </a:spcAft>
              <a:defRPr sz="1800" b="0">
                <a:solidFill>
                  <a:srgbClr val="BECBD6"/>
                </a:solidFill>
              </a:defRPr>
            </a:pPr>
            <a:r>
              <a:t>Each patient contains</a:t>
            </a:r>
          </a:p>
        </p:txBody>
      </p:sp>
      <p:sp>
        <p:nvSpPr>
          <p:cNvPr id="19" name="TextBox 18"/>
          <p:cNvSpPr txBox="1"/>
          <p:nvPr/>
        </p:nvSpPr>
        <p:spPr>
          <a:xfrm>
            <a:off x="7470648" y="2084831"/>
            <a:ext cx="2194560" cy="548640"/>
          </a:xfrm>
          <a:prstGeom prst="rect">
            <a:avLst/>
          </a:prstGeom>
          <a:noFill/>
        </p:spPr>
        <p:txBody>
          <a:bodyPr wrap="square" lIns="27432" rIns="27432" tIns="36576">
            <a:spAutoFit/>
          </a:bodyPr>
          <a:lstStyle/>
          <a:p>
            <a:pPr algn="l">
              <a:spcAft>
                <a:spcPts val="600"/>
              </a:spcAft>
              <a:defRPr sz="3000" b="1">
                <a:solidFill>
                  <a:srgbClr val="53D0C8"/>
                </a:solidFill>
              </a:defRPr>
            </a:pPr>
            <a:r>
              <a:t>10</a:t>
            </a:r>
          </a:p>
        </p:txBody>
      </p:sp>
      <p:sp>
        <p:nvSpPr>
          <p:cNvPr id="20" name="TextBox 19"/>
          <p:cNvSpPr txBox="1"/>
          <p:nvPr/>
        </p:nvSpPr>
        <p:spPr>
          <a:xfrm>
            <a:off x="9171432" y="2194560"/>
            <a:ext cx="2468880" cy="457200"/>
          </a:xfrm>
          <a:prstGeom prst="rect">
            <a:avLst/>
          </a:prstGeom>
          <a:noFill/>
        </p:spPr>
        <p:txBody>
          <a:bodyPr wrap="square" lIns="27432" rIns="27432" tIns="36576">
            <a:spAutoFit/>
          </a:bodyPr>
          <a:lstStyle/>
          <a:p>
            <a:pPr algn="l">
              <a:spcAft>
                <a:spcPts val="600"/>
              </a:spcAft>
              <a:defRPr sz="1700" b="0">
                <a:solidFill>
                  <a:srgbClr val="F8FAFD"/>
                </a:solidFill>
              </a:defRPr>
            </a:pPr>
            <a:r>
              <a:t>cardiac frames</a:t>
            </a:r>
          </a:p>
        </p:txBody>
      </p:sp>
      <p:sp>
        <p:nvSpPr>
          <p:cNvPr id="21" name="TextBox 20"/>
          <p:cNvSpPr txBox="1"/>
          <p:nvPr/>
        </p:nvSpPr>
        <p:spPr>
          <a:xfrm>
            <a:off x="7470648" y="3054096"/>
            <a:ext cx="2194560" cy="548640"/>
          </a:xfrm>
          <a:prstGeom prst="rect">
            <a:avLst/>
          </a:prstGeom>
          <a:noFill/>
        </p:spPr>
        <p:txBody>
          <a:bodyPr wrap="square" lIns="27432" rIns="27432" tIns="36576">
            <a:spAutoFit/>
          </a:bodyPr>
          <a:lstStyle/>
          <a:p>
            <a:pPr algn="l">
              <a:spcAft>
                <a:spcPts val="600"/>
              </a:spcAft>
              <a:defRPr sz="3000" b="1">
                <a:solidFill>
                  <a:srgbClr val="53D0C8"/>
                </a:solidFill>
              </a:defRPr>
            </a:pPr>
            <a:r>
              <a:t>18,000</a:t>
            </a:r>
          </a:p>
        </p:txBody>
      </p:sp>
      <p:sp>
        <p:nvSpPr>
          <p:cNvPr id="22" name="TextBox 21"/>
          <p:cNvSpPr txBox="1"/>
          <p:nvPr/>
        </p:nvSpPr>
        <p:spPr>
          <a:xfrm>
            <a:off x="9171432" y="3163824"/>
            <a:ext cx="2468880" cy="457200"/>
          </a:xfrm>
          <a:prstGeom prst="rect">
            <a:avLst/>
          </a:prstGeom>
          <a:noFill/>
        </p:spPr>
        <p:txBody>
          <a:bodyPr wrap="square" lIns="27432" rIns="27432" tIns="36576">
            <a:spAutoFit/>
          </a:bodyPr>
          <a:lstStyle/>
          <a:p>
            <a:pPr algn="l">
              <a:spcAft>
                <a:spcPts val="600"/>
              </a:spcAft>
              <a:defRPr sz="1700" b="0">
                <a:solidFill>
                  <a:srgbClr val="F8FAFD"/>
                </a:solidFill>
              </a:defRPr>
            </a:pPr>
            <a:r>
              <a:t>points per frame</a:t>
            </a:r>
          </a:p>
        </p:txBody>
      </p:sp>
      <p:sp>
        <p:nvSpPr>
          <p:cNvPr id="23" name="TextBox 22"/>
          <p:cNvSpPr txBox="1"/>
          <p:nvPr/>
        </p:nvSpPr>
        <p:spPr>
          <a:xfrm>
            <a:off x="7470648" y="4023360"/>
            <a:ext cx="2194560" cy="548640"/>
          </a:xfrm>
          <a:prstGeom prst="rect">
            <a:avLst/>
          </a:prstGeom>
          <a:noFill/>
        </p:spPr>
        <p:txBody>
          <a:bodyPr wrap="square" lIns="27432" rIns="27432" tIns="36576">
            <a:spAutoFit/>
          </a:bodyPr>
          <a:lstStyle/>
          <a:p>
            <a:pPr algn="l">
              <a:spcAft>
                <a:spcPts val="600"/>
              </a:spcAft>
              <a:defRPr sz="3000" b="1">
                <a:solidFill>
                  <a:srgbClr val="53D0C8"/>
                </a:solidFill>
              </a:defRPr>
            </a:pPr>
            <a:r>
              <a:t>3</a:t>
            </a:r>
          </a:p>
        </p:txBody>
      </p:sp>
      <p:sp>
        <p:nvSpPr>
          <p:cNvPr id="24" name="TextBox 23"/>
          <p:cNvSpPr txBox="1"/>
          <p:nvPr/>
        </p:nvSpPr>
        <p:spPr>
          <a:xfrm>
            <a:off x="9171432" y="4133087"/>
            <a:ext cx="2468880" cy="457200"/>
          </a:xfrm>
          <a:prstGeom prst="rect">
            <a:avLst/>
          </a:prstGeom>
          <a:noFill/>
        </p:spPr>
        <p:txBody>
          <a:bodyPr wrap="square" lIns="27432" rIns="27432" tIns="36576">
            <a:spAutoFit/>
          </a:bodyPr>
          <a:lstStyle/>
          <a:p>
            <a:pPr algn="l">
              <a:spcAft>
                <a:spcPts val="600"/>
              </a:spcAft>
              <a:defRPr sz="1700" b="0">
                <a:solidFill>
                  <a:srgbClr val="F8FAFD"/>
                </a:solidFill>
              </a:defRPr>
            </a:pPr>
            <a:r>
              <a:t>anatomical surfaces</a:t>
            </a:r>
          </a:p>
        </p:txBody>
      </p:sp>
      <p:sp>
        <p:nvSpPr>
          <p:cNvPr id="25" name="TextBox 24"/>
          <p:cNvSpPr txBox="1"/>
          <p:nvPr/>
        </p:nvSpPr>
        <p:spPr>
          <a:xfrm>
            <a:off x="7479792" y="5212080"/>
            <a:ext cx="4114800" cy="868680"/>
          </a:xfrm>
          <a:prstGeom prst="rect">
            <a:avLst/>
          </a:prstGeom>
          <a:noFill/>
        </p:spPr>
        <p:txBody>
          <a:bodyPr wrap="square" lIns="27432" rIns="27432" tIns="36576">
            <a:spAutoFit/>
          </a:bodyPr>
          <a:lstStyle/>
          <a:p>
            <a:pPr algn="l">
              <a:spcAft>
                <a:spcPts val="600"/>
              </a:spcAft>
              <a:defRPr sz="1800" b="1">
                <a:solidFill>
                  <a:srgbClr val="F8FAFD"/>
                </a:solidFill>
              </a:defRPr>
            </a:pPr>
            <a:r>
              <a:t>Goal: distinguish healthy from previous myocardial infarction (pMI).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93776"/>
            <a:ext cx="64008" cy="411480"/>
          </a:xfrm>
          <a:prstGeom prst="rect">
            <a:avLst/>
          </a:prstGeom>
          <a:solidFill>
            <a:srgbClr val="009B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789920" cy="384048"/>
          </a:xfrm>
          <a:prstGeom prst="rect">
            <a:avLst/>
          </a:prstGeom>
          <a:noFill/>
        </p:spPr>
        <p:txBody>
          <a:bodyPr wrap="square" lIns="27432" rIns="27432" tIns="36576">
            <a:spAutoFit/>
          </a:bodyPr>
          <a:lstStyle/>
          <a:p>
            <a:pPr algn="l">
              <a:spcAft>
                <a:spcPts val="600"/>
              </a:spcAft>
              <a:defRPr sz="2800" b="1">
                <a:solidFill>
                  <a:srgbClr val="F8FAFD"/>
                </a:solidFill>
              </a:defRPr>
            </a:pPr>
            <a:r>
              <a:t>Anatomical QC: an unusual movement subgroup</a:t>
            </a:r>
          </a:p>
        </p:txBody>
      </p:sp>
      <p:sp>
        <p:nvSpPr>
          <p:cNvPr id="5" name="TextBox 4"/>
          <p:cNvSpPr txBox="1"/>
          <p:nvPr/>
        </p:nvSpPr>
        <p:spPr>
          <a:xfrm>
            <a:off x="749808" y="932688"/>
            <a:ext cx="10058400" cy="310896"/>
          </a:xfrm>
          <a:prstGeom prst="rect">
            <a:avLst/>
          </a:prstGeom>
          <a:noFill/>
        </p:spPr>
        <p:txBody>
          <a:bodyPr wrap="square" lIns="27432" rIns="27432" tIns="36576">
            <a:spAutoFit/>
          </a:bodyPr>
          <a:lstStyle/>
          <a:p>
            <a:pPr algn="l">
              <a:spcAft>
                <a:spcPts val="600"/>
              </a:spcAft>
              <a:defRPr sz="1200" b="0">
                <a:solidFill>
                  <a:srgbClr val="BECBD6"/>
                </a:solidFill>
              </a:defRPr>
            </a:pPr>
            <a:r>
              <a:t>EXPLORATION  /  point-wise frame-to-frame spatial displacement</a:t>
            </a:r>
          </a:p>
        </p:txBody>
      </p:sp>
      <p:sp>
        <p:nvSpPr>
          <p:cNvPr id="6" name="Rectangle 5"/>
          <p:cNvSpPr/>
          <p:nvPr/>
        </p:nvSpPr>
        <p:spPr>
          <a:xfrm>
            <a:off x="594360" y="6437376"/>
            <a:ext cx="11018520" cy="15544"/>
          </a:xfrm>
          <a:prstGeom prst="rect">
            <a:avLst/>
          </a:prstGeom>
          <a:solidFill>
            <a:srgbClr val="415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83096"/>
            <a:ext cx="9144000" cy="228600"/>
          </a:xfrm>
          <a:prstGeom prst="rect">
            <a:avLst/>
          </a:prstGeom>
          <a:noFill/>
        </p:spPr>
        <p:txBody>
          <a:bodyPr wrap="square" lIns="27432" rIns="27432" tIns="36576">
            <a:spAutoFit/>
          </a:bodyPr>
          <a:lstStyle/>
          <a:p>
            <a:pPr algn="l">
              <a:spcAft>
                <a:spcPts val="600"/>
              </a:spcAft>
              <a:defRPr sz="900" b="0">
                <a:solidFill>
                  <a:srgbClr val="BECBD6"/>
                </a:solidFill>
              </a:defRPr>
            </a:pPr>
            <a:r>
              <a:t>MI classification · exploratory pipeline · group presentation</a:t>
            </a:r>
          </a:p>
        </p:txBody>
      </p:sp>
      <p:sp>
        <p:nvSpPr>
          <p:cNvPr id="8" name="TextBox 7"/>
          <p:cNvSpPr txBox="1"/>
          <p:nvPr/>
        </p:nvSpPr>
        <p:spPr>
          <a:xfrm>
            <a:off x="11128248" y="6483096"/>
            <a:ext cx="365760" cy="228600"/>
          </a:xfrm>
          <a:prstGeom prst="rect">
            <a:avLst/>
          </a:prstGeom>
          <a:noFill/>
        </p:spPr>
        <p:txBody>
          <a:bodyPr wrap="square" lIns="27432" rIns="27432" tIns="36576">
            <a:spAutoFit/>
          </a:bodyPr>
          <a:lstStyle/>
          <a:p>
            <a:pPr algn="l">
              <a:spcAft>
                <a:spcPts val="600"/>
              </a:spcAft>
              <a:defRPr sz="900" b="0">
                <a:solidFill>
                  <a:srgbClr val="BECBD6"/>
                </a:solidFill>
              </a:defRPr>
            </a:pPr>
            <a:r>
              <a:t>02</a:t>
            </a:r>
          </a:p>
        </p:txBody>
      </p:sp>
      <p:pic>
        <p:nvPicPr>
          <p:cNvPr id="9" name="Picture 8" descr="qc_counts.png"/>
          <p:cNvPicPr>
            <a:picLocks noChangeAspect="1"/>
          </p:cNvPicPr>
          <p:nvPr/>
        </p:nvPicPr>
        <p:blipFill>
          <a:blip r:embed="rId2"/>
          <a:stretch>
            <a:fillRect/>
          </a:stretch>
        </p:blipFill>
        <p:spPr>
          <a:xfrm>
            <a:off x="603504" y="1463040"/>
            <a:ext cx="6565392" cy="4136197"/>
          </a:xfrm>
          <a:prstGeom prst="rect">
            <a:avLst/>
          </a:prstGeom>
        </p:spPr>
      </p:pic>
      <p:sp>
        <p:nvSpPr>
          <p:cNvPr id="10" name="TextBox 9"/>
          <p:cNvSpPr txBox="1"/>
          <p:nvPr/>
        </p:nvSpPr>
        <p:spPr>
          <a:xfrm>
            <a:off x="7424927" y="1691640"/>
            <a:ext cx="4069080" cy="411480"/>
          </a:xfrm>
          <a:prstGeom prst="rect">
            <a:avLst/>
          </a:prstGeom>
          <a:noFill/>
        </p:spPr>
        <p:txBody>
          <a:bodyPr wrap="square" lIns="27432" rIns="27432" tIns="36576">
            <a:spAutoFit/>
          </a:bodyPr>
          <a:lstStyle/>
          <a:p>
            <a:pPr algn="l">
              <a:spcAft>
                <a:spcPts val="600"/>
              </a:spcAft>
              <a:defRPr sz="3300" b="1">
                <a:solidFill>
                  <a:srgbClr val="53D0C8"/>
                </a:solidFill>
              </a:defRPr>
            </a:pPr>
            <a:r>
              <a:t>84 / 900</a:t>
            </a:r>
          </a:p>
        </p:txBody>
      </p:sp>
      <p:sp>
        <p:nvSpPr>
          <p:cNvPr id="11" name="TextBox 10"/>
          <p:cNvSpPr txBox="1"/>
          <p:nvPr/>
        </p:nvSpPr>
        <p:spPr>
          <a:xfrm>
            <a:off x="7452360" y="2276856"/>
            <a:ext cx="3968496" cy="1143000"/>
          </a:xfrm>
          <a:prstGeom prst="rect">
            <a:avLst/>
          </a:prstGeom>
          <a:noFill/>
        </p:spPr>
        <p:txBody>
          <a:bodyPr wrap="square" lIns="27432" rIns="27432" tIns="36576">
            <a:spAutoFit/>
          </a:bodyPr>
          <a:lstStyle/>
          <a:p>
            <a:pPr algn="l">
              <a:spcAft>
                <a:spcPts val="600"/>
              </a:spcAft>
              <a:defRPr sz="1800" b="0">
                <a:solidFill>
                  <a:srgbClr val="F8FAFD"/>
                </a:solidFill>
              </a:defRPr>
            </a:pPr>
            <a:r>
              <a:t>patients exceeded P95 displacement &gt; 15 in the training data.</a:t>
            </a:r>
          </a:p>
        </p:txBody>
      </p:sp>
      <p:sp>
        <p:nvSpPr>
          <p:cNvPr id="12" name="TextBox 11"/>
          <p:cNvSpPr txBox="1"/>
          <p:nvPr/>
        </p:nvSpPr>
        <p:spPr>
          <a:xfrm>
            <a:off x="7452360" y="3611880"/>
            <a:ext cx="3986784" cy="1371600"/>
          </a:xfrm>
          <a:prstGeom prst="rect">
            <a:avLst/>
          </a:prstGeom>
          <a:noFill/>
        </p:spPr>
        <p:txBody>
          <a:bodyPr wrap="square" lIns="27432" rIns="27432" tIns="36576">
            <a:spAutoFit/>
          </a:bodyPr>
          <a:lstStyle/>
          <a:p>
            <a:pPr algn="l">
              <a:spcAft>
                <a:spcPts val="600"/>
              </a:spcAft>
              <a:defRPr sz="1800" b="0">
                <a:solidFill>
                  <a:srgbClr val="F8FAFD"/>
                </a:solidFill>
              </a:defRPr>
            </a:pPr>
            <a:r>
              <a:t>PCA and k-means primarily separated movement regimes rather than MI status.</a:t>
            </a:r>
          </a:p>
        </p:txBody>
      </p:sp>
      <p:sp>
        <p:nvSpPr>
          <p:cNvPr id="13" name="Rounded Rectangle 12"/>
          <p:cNvSpPr/>
          <p:nvPr/>
        </p:nvSpPr>
        <p:spPr>
          <a:xfrm>
            <a:off x="822960" y="5623560"/>
            <a:ext cx="10607040" cy="521207"/>
          </a:xfrm>
          <a:prstGeom prst="roundRect">
            <a:avLst/>
          </a:prstGeom>
          <a:solidFill>
            <a:srgbClr val="1F39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5696712"/>
            <a:ext cx="10149840" cy="356616"/>
          </a:xfrm>
          <a:prstGeom prst="rect">
            <a:avLst/>
          </a:prstGeom>
          <a:noFill/>
        </p:spPr>
        <p:txBody>
          <a:bodyPr wrap="square" lIns="27432" rIns="27432" tIns="36576">
            <a:spAutoFit/>
          </a:bodyPr>
          <a:lstStyle/>
          <a:p>
            <a:pPr algn="l">
              <a:spcAft>
                <a:spcPts val="600"/>
              </a:spcAft>
              <a:defRPr sz="1500" b="0">
                <a:solidFill>
                  <a:srgbClr val="F8FAFD"/>
                </a:solidFill>
              </a:defRPr>
            </a:pPr>
            <a:r>
              <a:t>Interpretation: possible synthetic / correspondence artefacts — not confirmed corrupted cases.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93776"/>
            <a:ext cx="64008" cy="411480"/>
          </a:xfrm>
          <a:prstGeom prst="rect">
            <a:avLst/>
          </a:prstGeom>
          <a:solidFill>
            <a:srgbClr val="009B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789920" cy="384048"/>
          </a:xfrm>
          <a:prstGeom prst="rect">
            <a:avLst/>
          </a:prstGeom>
          <a:noFill/>
        </p:spPr>
        <p:txBody>
          <a:bodyPr wrap="square" lIns="27432" rIns="27432" tIns="36576">
            <a:spAutoFit/>
          </a:bodyPr>
          <a:lstStyle/>
          <a:p>
            <a:pPr algn="l">
              <a:spcAft>
                <a:spcPts val="600"/>
              </a:spcAft>
              <a:defRPr sz="2800" b="1">
                <a:solidFill>
                  <a:srgbClr val="F8FAFD"/>
                </a:solidFill>
              </a:defRPr>
            </a:pPr>
            <a:r>
              <a:t>Feature engineering: whole heart → regional motion</a:t>
            </a:r>
          </a:p>
        </p:txBody>
      </p:sp>
      <p:sp>
        <p:nvSpPr>
          <p:cNvPr id="5" name="TextBox 4"/>
          <p:cNvSpPr txBox="1"/>
          <p:nvPr/>
        </p:nvSpPr>
        <p:spPr>
          <a:xfrm>
            <a:off x="749808" y="932688"/>
            <a:ext cx="10058400" cy="310896"/>
          </a:xfrm>
          <a:prstGeom prst="rect">
            <a:avLst/>
          </a:prstGeom>
          <a:noFill/>
        </p:spPr>
        <p:txBody>
          <a:bodyPr wrap="square" lIns="27432" rIns="27432" tIns="36576">
            <a:spAutoFit/>
          </a:bodyPr>
          <a:lstStyle/>
          <a:p>
            <a:pPr algn="l">
              <a:spcAft>
                <a:spcPts val="600"/>
              </a:spcAft>
              <a:defRPr sz="1200" b="0">
                <a:solidFill>
                  <a:srgbClr val="BECBD6"/>
                </a:solidFill>
              </a:defRPr>
            </a:pPr>
            <a:r>
              <a:t>BIOLOGY  /  infarction can cause localised dysfunction rather than a uniform global change</a:t>
            </a:r>
          </a:p>
        </p:txBody>
      </p:sp>
      <p:sp>
        <p:nvSpPr>
          <p:cNvPr id="6" name="Rectangle 5"/>
          <p:cNvSpPr/>
          <p:nvPr/>
        </p:nvSpPr>
        <p:spPr>
          <a:xfrm>
            <a:off x="594360" y="6437376"/>
            <a:ext cx="11018520" cy="15544"/>
          </a:xfrm>
          <a:prstGeom prst="rect">
            <a:avLst/>
          </a:prstGeom>
          <a:solidFill>
            <a:srgbClr val="415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83096"/>
            <a:ext cx="9144000" cy="228600"/>
          </a:xfrm>
          <a:prstGeom prst="rect">
            <a:avLst/>
          </a:prstGeom>
          <a:noFill/>
        </p:spPr>
        <p:txBody>
          <a:bodyPr wrap="square" lIns="27432" rIns="27432" tIns="36576">
            <a:spAutoFit/>
          </a:bodyPr>
          <a:lstStyle/>
          <a:p>
            <a:pPr algn="l">
              <a:spcAft>
                <a:spcPts val="600"/>
              </a:spcAft>
              <a:defRPr sz="900" b="0">
                <a:solidFill>
                  <a:srgbClr val="BECBD6"/>
                </a:solidFill>
              </a:defRPr>
            </a:pPr>
            <a:r>
              <a:t>MI classification · exploratory pipeline · group presentation</a:t>
            </a:r>
          </a:p>
        </p:txBody>
      </p:sp>
      <p:sp>
        <p:nvSpPr>
          <p:cNvPr id="8" name="TextBox 7"/>
          <p:cNvSpPr txBox="1"/>
          <p:nvPr/>
        </p:nvSpPr>
        <p:spPr>
          <a:xfrm>
            <a:off x="11128248" y="6483096"/>
            <a:ext cx="365760" cy="228600"/>
          </a:xfrm>
          <a:prstGeom prst="rect">
            <a:avLst/>
          </a:prstGeom>
          <a:noFill/>
        </p:spPr>
        <p:txBody>
          <a:bodyPr wrap="square" lIns="27432" rIns="27432" tIns="36576">
            <a:spAutoFit/>
          </a:bodyPr>
          <a:lstStyle/>
          <a:p>
            <a:pPr algn="l">
              <a:spcAft>
                <a:spcPts val="600"/>
              </a:spcAft>
              <a:defRPr sz="900" b="0">
                <a:solidFill>
                  <a:srgbClr val="BECBD6"/>
                </a:solidFill>
              </a:defRPr>
            </a:pPr>
            <a:r>
              <a:t>03</a:t>
            </a:r>
          </a:p>
        </p:txBody>
      </p:sp>
      <p:sp>
        <p:nvSpPr>
          <p:cNvPr id="9" name="Rounded Rectangle 8"/>
          <p:cNvSpPr/>
          <p:nvPr/>
        </p:nvSpPr>
        <p:spPr>
          <a:xfrm>
            <a:off x="868680" y="1600200"/>
            <a:ext cx="3429000" cy="1033271"/>
          </a:xfrm>
          <a:prstGeom prst="roundRect">
            <a:avLst/>
          </a:prstGeom>
          <a:solidFill>
            <a:srgbClr val="1C35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96695" y="1792224"/>
            <a:ext cx="146304" cy="612648"/>
          </a:xfrm>
          <a:prstGeom prst="rect">
            <a:avLst/>
          </a:prstGeom>
          <a:solidFill>
            <a:srgbClr val="009B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07592" y="1746504"/>
            <a:ext cx="2688336" cy="329184"/>
          </a:xfrm>
          <a:prstGeom prst="rect">
            <a:avLst/>
          </a:prstGeom>
          <a:noFill/>
        </p:spPr>
        <p:txBody>
          <a:bodyPr wrap="square" lIns="27432" rIns="27432" tIns="36576">
            <a:spAutoFit/>
          </a:bodyPr>
          <a:lstStyle/>
          <a:p>
            <a:pPr algn="l">
              <a:spcAft>
                <a:spcPts val="600"/>
              </a:spcAft>
              <a:defRPr sz="2100" b="1">
                <a:solidFill>
                  <a:srgbClr val="F8FAFD"/>
                </a:solidFill>
              </a:defRPr>
            </a:pPr>
            <a:r>
              <a:t>LV inner</a:t>
            </a:r>
          </a:p>
        </p:txBody>
      </p:sp>
      <p:sp>
        <p:nvSpPr>
          <p:cNvPr id="12" name="TextBox 11"/>
          <p:cNvSpPr txBox="1"/>
          <p:nvPr/>
        </p:nvSpPr>
        <p:spPr>
          <a:xfrm>
            <a:off x="1307592" y="2148840"/>
            <a:ext cx="2779776" cy="274320"/>
          </a:xfrm>
          <a:prstGeom prst="rect">
            <a:avLst/>
          </a:prstGeom>
          <a:noFill/>
        </p:spPr>
        <p:txBody>
          <a:bodyPr wrap="square" lIns="27432" rIns="27432" tIns="36576">
            <a:spAutoFit/>
          </a:bodyPr>
          <a:lstStyle/>
          <a:p>
            <a:pPr algn="l">
              <a:spcAft>
                <a:spcPts val="600"/>
              </a:spcAft>
              <a:defRPr sz="1200" b="0">
                <a:solidFill>
                  <a:srgbClr val="BECBD6"/>
                </a:solidFill>
              </a:defRPr>
            </a:pPr>
            <a:r>
              <a:t>endocardial surface</a:t>
            </a:r>
          </a:p>
        </p:txBody>
      </p:sp>
      <p:sp>
        <p:nvSpPr>
          <p:cNvPr id="13" name="Rounded Rectangle 12"/>
          <p:cNvSpPr/>
          <p:nvPr/>
        </p:nvSpPr>
        <p:spPr>
          <a:xfrm>
            <a:off x="4663440" y="1600200"/>
            <a:ext cx="3429000" cy="1033271"/>
          </a:xfrm>
          <a:prstGeom prst="roundRect">
            <a:avLst/>
          </a:prstGeom>
          <a:solidFill>
            <a:srgbClr val="1C35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91456" y="1792224"/>
            <a:ext cx="146304" cy="612648"/>
          </a:xfrm>
          <a:prstGeom prst="rect">
            <a:avLst/>
          </a:prstGeom>
          <a:solidFill>
            <a:srgbClr val="1C77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02352" y="1746504"/>
            <a:ext cx="2688336" cy="329184"/>
          </a:xfrm>
          <a:prstGeom prst="rect">
            <a:avLst/>
          </a:prstGeom>
          <a:noFill/>
        </p:spPr>
        <p:txBody>
          <a:bodyPr wrap="square" lIns="27432" rIns="27432" tIns="36576">
            <a:spAutoFit/>
          </a:bodyPr>
          <a:lstStyle/>
          <a:p>
            <a:pPr algn="l">
              <a:spcAft>
                <a:spcPts val="600"/>
              </a:spcAft>
              <a:defRPr sz="2100" b="1">
                <a:solidFill>
                  <a:srgbClr val="F8FAFD"/>
                </a:solidFill>
              </a:defRPr>
            </a:pPr>
            <a:r>
              <a:t>LV outer</a:t>
            </a:r>
          </a:p>
        </p:txBody>
      </p:sp>
      <p:sp>
        <p:nvSpPr>
          <p:cNvPr id="16" name="TextBox 15"/>
          <p:cNvSpPr txBox="1"/>
          <p:nvPr/>
        </p:nvSpPr>
        <p:spPr>
          <a:xfrm>
            <a:off x="5102352" y="2148840"/>
            <a:ext cx="2779776" cy="274320"/>
          </a:xfrm>
          <a:prstGeom prst="rect">
            <a:avLst/>
          </a:prstGeom>
          <a:noFill/>
        </p:spPr>
        <p:txBody>
          <a:bodyPr wrap="square" lIns="27432" rIns="27432" tIns="36576">
            <a:spAutoFit/>
          </a:bodyPr>
          <a:lstStyle/>
          <a:p>
            <a:pPr algn="l">
              <a:spcAft>
                <a:spcPts val="600"/>
              </a:spcAft>
              <a:defRPr sz="1200" b="0">
                <a:solidFill>
                  <a:srgbClr val="BECBD6"/>
                </a:solidFill>
              </a:defRPr>
            </a:pPr>
            <a:r>
              <a:t>epicardial surface</a:t>
            </a:r>
          </a:p>
        </p:txBody>
      </p:sp>
      <p:sp>
        <p:nvSpPr>
          <p:cNvPr id="17" name="Rounded Rectangle 16"/>
          <p:cNvSpPr/>
          <p:nvPr/>
        </p:nvSpPr>
        <p:spPr>
          <a:xfrm>
            <a:off x="8458200" y="1600200"/>
            <a:ext cx="3429000" cy="1033271"/>
          </a:xfrm>
          <a:prstGeom prst="roundRect">
            <a:avLst/>
          </a:prstGeom>
          <a:solidFill>
            <a:srgbClr val="1C35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586216" y="1792224"/>
            <a:ext cx="146304" cy="612648"/>
          </a:xfrm>
          <a:prstGeom prst="rect">
            <a:avLst/>
          </a:prstGeom>
          <a:solidFill>
            <a:srgbClr val="E978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97112" y="1746504"/>
            <a:ext cx="2688336" cy="329184"/>
          </a:xfrm>
          <a:prstGeom prst="rect">
            <a:avLst/>
          </a:prstGeom>
          <a:noFill/>
        </p:spPr>
        <p:txBody>
          <a:bodyPr wrap="square" lIns="27432" rIns="27432" tIns="36576">
            <a:spAutoFit/>
          </a:bodyPr>
          <a:lstStyle/>
          <a:p>
            <a:pPr algn="l">
              <a:spcAft>
                <a:spcPts val="600"/>
              </a:spcAft>
              <a:defRPr sz="2100" b="1">
                <a:solidFill>
                  <a:srgbClr val="F8FAFD"/>
                </a:solidFill>
              </a:defRPr>
            </a:pPr>
            <a:r>
              <a:t>RV</a:t>
            </a:r>
          </a:p>
        </p:txBody>
      </p:sp>
      <p:sp>
        <p:nvSpPr>
          <p:cNvPr id="20" name="TextBox 19"/>
          <p:cNvSpPr txBox="1"/>
          <p:nvPr/>
        </p:nvSpPr>
        <p:spPr>
          <a:xfrm>
            <a:off x="8897112" y="2148840"/>
            <a:ext cx="2779776" cy="274320"/>
          </a:xfrm>
          <a:prstGeom prst="rect">
            <a:avLst/>
          </a:prstGeom>
          <a:noFill/>
        </p:spPr>
        <p:txBody>
          <a:bodyPr wrap="square" lIns="27432" rIns="27432" tIns="36576">
            <a:spAutoFit/>
          </a:bodyPr>
          <a:lstStyle/>
          <a:p>
            <a:pPr algn="l">
              <a:spcAft>
                <a:spcPts val="600"/>
              </a:spcAft>
              <a:defRPr sz="1200" b="0">
                <a:solidFill>
                  <a:srgbClr val="BECBD6"/>
                </a:solidFill>
              </a:defRPr>
            </a:pPr>
            <a:r>
              <a:t>right ventricle</a:t>
            </a:r>
          </a:p>
        </p:txBody>
      </p:sp>
      <p:sp>
        <p:nvSpPr>
          <p:cNvPr id="21" name="Rounded Rectangle 20"/>
          <p:cNvSpPr/>
          <p:nvPr/>
        </p:nvSpPr>
        <p:spPr>
          <a:xfrm>
            <a:off x="914400" y="2971800"/>
            <a:ext cx="5532120" cy="484632"/>
          </a:xfrm>
          <a:prstGeom prst="roundRect">
            <a:avLst/>
          </a:prstGeom>
          <a:solidFill>
            <a:srgbClr val="E978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07208" y="3044952"/>
            <a:ext cx="2377440" cy="320040"/>
          </a:xfrm>
          <a:prstGeom prst="rect">
            <a:avLst/>
          </a:prstGeom>
          <a:noFill/>
        </p:spPr>
        <p:txBody>
          <a:bodyPr wrap="square" lIns="27432" rIns="27432" tIns="36576">
            <a:spAutoFit/>
          </a:bodyPr>
          <a:lstStyle/>
          <a:p>
            <a:pPr algn="l">
              <a:spcAft>
                <a:spcPts val="600"/>
              </a:spcAft>
              <a:defRPr sz="1500" b="1">
                <a:solidFill>
                  <a:srgbClr val="F8FAFD"/>
                </a:solidFill>
              </a:defRPr>
            </a:pPr>
            <a:r>
              <a:t>Region 2</a:t>
            </a:r>
          </a:p>
        </p:txBody>
      </p:sp>
      <p:sp>
        <p:nvSpPr>
          <p:cNvPr id="23" name="Rounded Rectangle 22"/>
          <p:cNvSpPr/>
          <p:nvPr/>
        </p:nvSpPr>
        <p:spPr>
          <a:xfrm>
            <a:off x="914400" y="3566160"/>
            <a:ext cx="5532120" cy="484632"/>
          </a:xfrm>
          <a:prstGeom prst="roundRect">
            <a:avLst/>
          </a:prstGeom>
          <a:solidFill>
            <a:srgbClr val="009B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07208" y="3044952"/>
            <a:ext cx="2377440" cy="320040"/>
          </a:xfrm>
          <a:prstGeom prst="rect">
            <a:avLst/>
          </a:prstGeom>
          <a:noFill/>
        </p:spPr>
        <p:txBody>
          <a:bodyPr wrap="square" lIns="27432" rIns="27432" tIns="36576">
            <a:spAutoFit/>
          </a:bodyPr>
          <a:lstStyle/>
          <a:p>
            <a:pPr algn="l">
              <a:spcAft>
                <a:spcPts val="600"/>
              </a:spcAft>
              <a:defRPr sz="1500" b="1">
                <a:solidFill>
                  <a:srgbClr val="F8FAFD"/>
                </a:solidFill>
              </a:defRPr>
            </a:pPr>
            <a:r>
              <a:t>Region 1</a:t>
            </a:r>
          </a:p>
        </p:txBody>
      </p:sp>
      <p:sp>
        <p:nvSpPr>
          <p:cNvPr id="25" name="Rounded Rectangle 24"/>
          <p:cNvSpPr/>
          <p:nvPr/>
        </p:nvSpPr>
        <p:spPr>
          <a:xfrm>
            <a:off x="914400" y="4160520"/>
            <a:ext cx="5532120" cy="484632"/>
          </a:xfrm>
          <a:prstGeom prst="roundRect">
            <a:avLst/>
          </a:prstGeom>
          <a:solidFill>
            <a:srgbClr val="1C77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807208" y="3044952"/>
            <a:ext cx="2377440" cy="320040"/>
          </a:xfrm>
          <a:prstGeom prst="rect">
            <a:avLst/>
          </a:prstGeom>
          <a:noFill/>
        </p:spPr>
        <p:txBody>
          <a:bodyPr wrap="square" lIns="27432" rIns="27432" tIns="36576">
            <a:spAutoFit/>
          </a:bodyPr>
          <a:lstStyle/>
          <a:p>
            <a:pPr algn="l">
              <a:spcAft>
                <a:spcPts val="600"/>
              </a:spcAft>
              <a:defRPr sz="1500" b="1">
                <a:solidFill>
                  <a:srgbClr val="F8FAFD"/>
                </a:solidFill>
              </a:defRPr>
            </a:pPr>
            <a:r>
              <a:t>Region 0</a:t>
            </a:r>
          </a:p>
        </p:txBody>
      </p:sp>
      <p:sp>
        <p:nvSpPr>
          <p:cNvPr id="27" name="TextBox 26"/>
          <p:cNvSpPr txBox="1"/>
          <p:nvPr/>
        </p:nvSpPr>
        <p:spPr>
          <a:xfrm>
            <a:off x="6903720" y="3081528"/>
            <a:ext cx="4389120" cy="521207"/>
          </a:xfrm>
          <a:prstGeom prst="rect">
            <a:avLst/>
          </a:prstGeom>
          <a:noFill/>
        </p:spPr>
        <p:txBody>
          <a:bodyPr wrap="square" lIns="27432" rIns="27432" tIns="36576">
            <a:spAutoFit/>
          </a:bodyPr>
          <a:lstStyle/>
          <a:p>
            <a:pPr algn="l">
              <a:spcAft>
                <a:spcPts val="600"/>
              </a:spcAft>
              <a:defRPr sz="2200" b="1">
                <a:solidFill>
                  <a:srgbClr val="F8FAFD"/>
                </a:solidFill>
              </a:defRPr>
            </a:pPr>
            <a:r>
              <a:t>PCA-defined long axis</a:t>
            </a:r>
          </a:p>
        </p:txBody>
      </p:sp>
      <p:sp>
        <p:nvSpPr>
          <p:cNvPr id="28" name="TextBox 27"/>
          <p:cNvSpPr txBox="1"/>
          <p:nvPr/>
        </p:nvSpPr>
        <p:spPr>
          <a:xfrm>
            <a:off x="6903720" y="3694176"/>
            <a:ext cx="4389120" cy="1143000"/>
          </a:xfrm>
          <a:prstGeom prst="rect">
            <a:avLst/>
          </a:prstGeom>
          <a:noFill/>
        </p:spPr>
        <p:txBody>
          <a:bodyPr wrap="square" lIns="27432" rIns="27432" tIns="36576">
            <a:spAutoFit/>
          </a:bodyPr>
          <a:lstStyle/>
          <a:p>
            <a:pPr algn="l">
              <a:spcAft>
                <a:spcPts val="600"/>
              </a:spcAft>
              <a:defRPr sz="1700" b="0">
                <a:solidFill>
                  <a:srgbClr val="F8FAFD"/>
                </a:solidFill>
              </a:defRPr>
            </a:pPr>
            <a:r>
              <a:t>Each cardiac surface divided into three equal-count longitudinal regions.</a:t>
            </a:r>
          </a:p>
        </p:txBody>
      </p:sp>
      <p:sp>
        <p:nvSpPr>
          <p:cNvPr id="29" name="TextBox 28"/>
          <p:cNvSpPr txBox="1"/>
          <p:nvPr/>
        </p:nvSpPr>
        <p:spPr>
          <a:xfrm>
            <a:off x="914400" y="5212080"/>
            <a:ext cx="10424160" cy="594360"/>
          </a:xfrm>
          <a:prstGeom prst="rect">
            <a:avLst/>
          </a:prstGeom>
          <a:noFill/>
        </p:spPr>
        <p:txBody>
          <a:bodyPr wrap="square" lIns="27432" rIns="27432" tIns="36576">
            <a:spAutoFit/>
          </a:bodyPr>
          <a:lstStyle/>
          <a:p>
            <a:pPr algn="l">
              <a:spcAft>
                <a:spcPts val="600"/>
              </a:spcAft>
              <a:defRPr sz="2100" b="1">
                <a:solidFill>
                  <a:srgbClr val="53D0C8"/>
                </a:solidFill>
              </a:defRPr>
            </a:pPr>
            <a:r>
              <a:t>27 global size/change + 54 regional motion/radial + 7 demographic features</a:t>
            </a:r>
          </a:p>
        </p:txBody>
      </p:sp>
      <p:sp>
        <p:nvSpPr>
          <p:cNvPr id="30" name="TextBox 29"/>
          <p:cNvSpPr txBox="1"/>
          <p:nvPr/>
        </p:nvSpPr>
        <p:spPr>
          <a:xfrm>
            <a:off x="914400" y="5824728"/>
            <a:ext cx="10424160" cy="310896"/>
          </a:xfrm>
          <a:prstGeom prst="rect">
            <a:avLst/>
          </a:prstGeom>
          <a:noFill/>
        </p:spPr>
        <p:txBody>
          <a:bodyPr wrap="square" lIns="27432" rIns="27432" tIns="36576">
            <a:spAutoFit/>
          </a:bodyPr>
          <a:lstStyle/>
          <a:p>
            <a:pPr algn="l">
              <a:spcAft>
                <a:spcPts val="600"/>
              </a:spcAft>
              <a:defRPr sz="1400" b="0">
                <a:solidFill>
                  <a:srgbClr val="BECBD6"/>
                </a:solidFill>
              </a:defRPr>
            </a:pPr>
            <a:r>
              <a:t>Motivation: infarcted myocardium may show regional wall-motion abnormalities.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93776"/>
            <a:ext cx="64008" cy="411480"/>
          </a:xfrm>
          <a:prstGeom prst="rect">
            <a:avLst/>
          </a:prstGeom>
          <a:solidFill>
            <a:srgbClr val="009B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365760"/>
            <a:ext cx="10789920" cy="384048"/>
          </a:xfrm>
          <a:prstGeom prst="rect">
            <a:avLst/>
          </a:prstGeom>
          <a:noFill/>
        </p:spPr>
        <p:txBody>
          <a:bodyPr wrap="square" lIns="27432" rIns="27432" tIns="36576">
            <a:spAutoFit/>
          </a:bodyPr>
          <a:lstStyle/>
          <a:p>
            <a:pPr algn="l">
              <a:spcAft>
                <a:spcPts val="600"/>
              </a:spcAft>
              <a:defRPr sz="2800" b="1">
                <a:solidFill>
                  <a:srgbClr val="F8FAFD"/>
                </a:solidFill>
              </a:defRPr>
            </a:pPr>
            <a:r>
              <a:t>Predictive modelling: what worked — and what did not</a:t>
            </a:r>
          </a:p>
        </p:txBody>
      </p:sp>
      <p:sp>
        <p:nvSpPr>
          <p:cNvPr id="5" name="TextBox 4"/>
          <p:cNvSpPr txBox="1"/>
          <p:nvPr/>
        </p:nvSpPr>
        <p:spPr>
          <a:xfrm>
            <a:off x="749808" y="932688"/>
            <a:ext cx="10058400" cy="310896"/>
          </a:xfrm>
          <a:prstGeom prst="rect">
            <a:avLst/>
          </a:prstGeom>
          <a:noFill/>
        </p:spPr>
        <p:txBody>
          <a:bodyPr wrap="square" lIns="27432" rIns="27432" tIns="36576">
            <a:spAutoFit/>
          </a:bodyPr>
          <a:lstStyle/>
          <a:p>
            <a:pPr algn="l">
              <a:spcAft>
                <a:spcPts val="600"/>
              </a:spcAft>
              <a:defRPr sz="1200" b="0">
                <a:solidFill>
                  <a:srgbClr val="BECBD6"/>
                </a:solidFill>
              </a:defRPr>
            </a:pPr>
            <a:r>
              <a:t>MODEL COMPARISON  /  macro-F1; distinguish cross-validation from held-out testing</a:t>
            </a:r>
          </a:p>
        </p:txBody>
      </p:sp>
      <p:sp>
        <p:nvSpPr>
          <p:cNvPr id="6" name="Rectangle 5"/>
          <p:cNvSpPr/>
          <p:nvPr/>
        </p:nvSpPr>
        <p:spPr>
          <a:xfrm>
            <a:off x="594360" y="6437376"/>
            <a:ext cx="11018520" cy="15544"/>
          </a:xfrm>
          <a:prstGeom prst="rect">
            <a:avLst/>
          </a:prstGeom>
          <a:solidFill>
            <a:srgbClr val="4156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483096"/>
            <a:ext cx="9144000" cy="228600"/>
          </a:xfrm>
          <a:prstGeom prst="rect">
            <a:avLst/>
          </a:prstGeom>
          <a:noFill/>
        </p:spPr>
        <p:txBody>
          <a:bodyPr wrap="square" lIns="27432" rIns="27432" tIns="36576">
            <a:spAutoFit/>
          </a:bodyPr>
          <a:lstStyle/>
          <a:p>
            <a:pPr algn="l">
              <a:spcAft>
                <a:spcPts val="600"/>
              </a:spcAft>
              <a:defRPr sz="900" b="0">
                <a:solidFill>
                  <a:srgbClr val="BECBD6"/>
                </a:solidFill>
              </a:defRPr>
            </a:pPr>
            <a:r>
              <a:t>MI classification · exploratory pipeline · group presentation</a:t>
            </a:r>
          </a:p>
        </p:txBody>
      </p:sp>
      <p:sp>
        <p:nvSpPr>
          <p:cNvPr id="8" name="TextBox 7"/>
          <p:cNvSpPr txBox="1"/>
          <p:nvPr/>
        </p:nvSpPr>
        <p:spPr>
          <a:xfrm>
            <a:off x="11128248" y="6483096"/>
            <a:ext cx="365760" cy="228600"/>
          </a:xfrm>
          <a:prstGeom prst="rect">
            <a:avLst/>
          </a:prstGeom>
          <a:noFill/>
        </p:spPr>
        <p:txBody>
          <a:bodyPr wrap="square" lIns="27432" rIns="27432" tIns="36576">
            <a:spAutoFit/>
          </a:bodyPr>
          <a:lstStyle/>
          <a:p>
            <a:pPr algn="l">
              <a:spcAft>
                <a:spcPts val="600"/>
              </a:spcAft>
              <a:defRPr sz="900" b="0">
                <a:solidFill>
                  <a:srgbClr val="BECBD6"/>
                </a:solidFill>
              </a:defRPr>
            </a:pPr>
            <a:r>
              <a:t>04</a:t>
            </a:r>
          </a:p>
        </p:txBody>
      </p:sp>
      <p:pic>
        <p:nvPicPr>
          <p:cNvPr id="9" name="Picture 8" descr="model_results.png"/>
          <p:cNvPicPr>
            <a:picLocks noChangeAspect="1"/>
          </p:cNvPicPr>
          <p:nvPr/>
        </p:nvPicPr>
        <p:blipFill>
          <a:blip r:embed="rId2"/>
          <a:stretch>
            <a:fillRect/>
          </a:stretch>
        </p:blipFill>
        <p:spPr>
          <a:xfrm>
            <a:off x="704088" y="1408176"/>
            <a:ext cx="8366760" cy="4094662"/>
          </a:xfrm>
          <a:prstGeom prst="rect">
            <a:avLst/>
          </a:prstGeom>
        </p:spPr>
      </p:pic>
      <p:sp>
        <p:nvSpPr>
          <p:cNvPr id="10" name="TextBox 9"/>
          <p:cNvSpPr txBox="1"/>
          <p:nvPr/>
        </p:nvSpPr>
        <p:spPr>
          <a:xfrm>
            <a:off x="9144000" y="1901952"/>
            <a:ext cx="2194560" cy="457200"/>
          </a:xfrm>
          <a:prstGeom prst="rect">
            <a:avLst/>
          </a:prstGeom>
          <a:noFill/>
        </p:spPr>
        <p:txBody>
          <a:bodyPr wrap="square" lIns="27432" rIns="27432" tIns="36576">
            <a:spAutoFit/>
          </a:bodyPr>
          <a:lstStyle/>
          <a:p>
            <a:pPr algn="l">
              <a:spcAft>
                <a:spcPts val="600"/>
              </a:spcAft>
              <a:defRPr sz="2100" b="1">
                <a:solidFill>
                  <a:srgbClr val="F8FAFD"/>
                </a:solidFill>
              </a:defRPr>
            </a:pPr>
            <a:r>
              <a:t>Models tried</a:t>
            </a:r>
          </a:p>
        </p:txBody>
      </p:sp>
      <p:sp>
        <p:nvSpPr>
          <p:cNvPr id="11" name="TextBox 10"/>
          <p:cNvSpPr txBox="1"/>
          <p:nvPr/>
        </p:nvSpPr>
        <p:spPr>
          <a:xfrm>
            <a:off x="9171432" y="2487168"/>
            <a:ext cx="2432304" cy="1170432"/>
          </a:xfrm>
          <a:prstGeom prst="rect">
            <a:avLst/>
          </a:prstGeom>
          <a:noFill/>
        </p:spPr>
        <p:txBody>
          <a:bodyPr wrap="square" lIns="27432" rIns="27432" tIns="36576">
            <a:spAutoFit/>
          </a:bodyPr>
          <a:lstStyle/>
          <a:p>
            <a:pPr algn="l">
              <a:spcAft>
                <a:spcPts val="600"/>
              </a:spcAft>
              <a:defRPr sz="1500" b="0">
                <a:solidFill>
                  <a:srgbClr val="F8FAFD"/>
                </a:solidFill>
              </a:defRPr>
            </a:pPr>
            <a:r>
              <a:t>Logistic regression</a:t>
            </a:r>
          </a:p>
          <a:p>
            <a:pPr algn="l">
              <a:spcAft>
                <a:spcPts val="600"/>
              </a:spcAft>
              <a:defRPr sz="1500" b="0">
                <a:solidFill>
                  <a:srgbClr val="F8FAFD"/>
                </a:solidFill>
              </a:defRPr>
            </a:pPr>
            <a:r>
              <a:t>Random forest</a:t>
            </a:r>
          </a:p>
          <a:p>
            <a:pPr algn="l">
              <a:spcAft>
                <a:spcPts val="600"/>
              </a:spcAft>
              <a:defRPr sz="1500" b="0">
                <a:solidFill>
                  <a:srgbClr val="F8FAFD"/>
                </a:solidFill>
              </a:defRPr>
            </a:pPr>
            <a:r>
              <a:t>Histogram gradient boosting</a:t>
            </a:r>
          </a:p>
        </p:txBody>
      </p:sp>
      <p:sp>
        <p:nvSpPr>
          <p:cNvPr id="12" name="Rounded Rectangle 11"/>
          <p:cNvSpPr/>
          <p:nvPr/>
        </p:nvSpPr>
        <p:spPr>
          <a:xfrm>
            <a:off x="9015984" y="4480560"/>
            <a:ext cx="2377440" cy="1188720"/>
          </a:xfrm>
          <a:prstGeom prst="roundRect">
            <a:avLst/>
          </a:prstGeom>
          <a:solidFill>
            <a:srgbClr val="233B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98864" y="4645152"/>
            <a:ext cx="2066543" cy="914400"/>
          </a:xfrm>
          <a:prstGeom prst="rect">
            <a:avLst/>
          </a:prstGeom>
          <a:noFill/>
        </p:spPr>
        <p:txBody>
          <a:bodyPr wrap="square" lIns="27432" rIns="27432" tIns="36576">
            <a:spAutoFit/>
          </a:bodyPr>
          <a:lstStyle/>
          <a:p>
            <a:pPr algn="l">
              <a:spcAft>
                <a:spcPts val="600"/>
              </a:spcAft>
              <a:defRPr sz="1800" b="1">
                <a:solidFill>
                  <a:srgbClr val="F6A896"/>
                </a:solidFill>
              </a:defRPr>
            </a:pPr>
            <a:r>
              <a:t>100-patient test</a:t>
            </a:r>
          </a:p>
          <a:p>
            <a:pPr algn="l">
              <a:spcAft>
                <a:spcPts val="600"/>
              </a:spcAft>
              <a:defRPr sz="1800" b="1">
                <a:solidFill>
                  <a:srgbClr val="F6A896"/>
                </a:solidFill>
              </a:defRPr>
            </a:pPr>
            <a:r>
              <a:t>F1 = 0.710</a:t>
            </a:r>
          </a:p>
        </p:txBody>
      </p:sp>
      <p:sp>
        <p:nvSpPr>
          <p:cNvPr id="14" name="TextBox 13"/>
          <p:cNvSpPr txBox="1"/>
          <p:nvPr/>
        </p:nvSpPr>
        <p:spPr>
          <a:xfrm>
            <a:off x="795528" y="5760720"/>
            <a:ext cx="10789920" cy="484632"/>
          </a:xfrm>
          <a:prstGeom prst="rect">
            <a:avLst/>
          </a:prstGeom>
          <a:noFill/>
        </p:spPr>
        <p:txBody>
          <a:bodyPr wrap="square" lIns="27432" rIns="27432" tIns="36576">
            <a:spAutoFit/>
          </a:bodyPr>
          <a:lstStyle/>
          <a:p>
            <a:pPr algn="l">
              <a:spcAft>
                <a:spcPts val="600"/>
              </a:spcAft>
              <a:defRPr sz="1500" b="0">
                <a:solidFill>
                  <a:srgbClr val="BECBD6"/>
                </a:solidFill>
              </a:defRPr>
            </a:pPr>
            <a:r>
              <a:t>Optimisation: 302 trial search; top feature recipe = demographics + global + LV outer regional.</a:t>
            </a:r>
          </a:p>
        </p:txBody>
      </p:sp>
    </p:spTree>
  </p:cSld>
  <p:clrMapOvr>
    <a:masterClrMapping/>
  </p:clrMapOvr>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7064B4A-89CC-40E5-93A5-35E89367EFB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C192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3A3CC14F-7CD1-4115-A2BB-EE44D353B293}"/>
              </a:ext>
            </a:extLst>
          </p:cNvPr>
          <p:cNvSpPr>
            <a:spLocks xmlns:a="http://schemas.openxmlformats.org/drawingml/2006/main" noGrp="1"/>
          </p:cNvSpPr>
          <p:nvPr/>
        </p:nvSpPr>
        <p:spPr>
          <a:xfrm xmlns:a="http://schemas.openxmlformats.org/drawingml/2006/main">
            <a:off x="502920" y="493776"/>
            <a:ext cx="64008" cy="411480"/>
          </a:xfrm>
          <a:prstGeom xmlns:a="http://schemas.openxmlformats.org/drawingml/2006/main" prst="rect">
            <a:avLst/>
          </a:prstGeom>
          <a:solidFill xmlns:a="http://schemas.openxmlformats.org/drawingml/2006/main">
            <a:srgbClr val="009B9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D75D44A4-A75E-4279-9363-58C98C17C0B5}"/>
              </a:ext>
            </a:extLst>
          </p:cNvPr>
          <p:cNvSpPr>
            <a:spLocks xmlns:a="http://schemas.openxmlformats.org/drawingml/2006/main" noGrp="1"/>
          </p:cNvSpPr>
          <p:nvPr/>
        </p:nvSpPr>
        <p:spPr>
          <a:xfrm xmlns:a="http://schemas.openxmlformats.org/drawingml/2006/main">
            <a:off x="749808" y="365760"/>
            <a:ext cx="10789920" cy="509016"/>
          </a:xfrm>
          <a:prstGeom xmlns:a="http://schemas.openxmlformats.org/drawingml/2006/main" prst="rect">
            <a:avLst/>
          </a:prstGeom>
          <a:noFill xmlns:a="http://schemas.openxmlformats.org/drawingml/2006/main"/>
        </p:spPr>
        <p:txBody>
          <a:bodyPr xmlns:a="http://schemas.openxmlformats.org/drawingml/2006/main" wrap="square" lIns="27432" tIns="36576" rIns="27432">
            <a:spAutoFit/>
          </a:bodyPr>
          <a:lstStyle xmlns:a="http://schemas.openxmlformats.org/drawingml/2006/main"/>
          <a:p xmlns:a="http://schemas.openxmlformats.org/drawingml/2006/main">
            <a:pPr algn="l">
              <a:spcAft>
                <a:spcPts val="600"/>
              </a:spcAft>
              <a:buNone/>
              <a:defRPr sz="2800" b="1">
                <a:solidFill>
                  <a:srgbClr val="F8FAFD"/>
                </a:solidFill>
              </a:defRPr>
            </a:pPr>
            <a:r>
              <a:t>VAE: learning cardiac motion</a:t>
            </a:r>
          </a:p>
        </p:txBody>
      </p:sp>
      <p:sp>
        <p:nvSpPr>
          <p:cNvPr id="5" name="TextBox 4">
            <a:extLst xmlns:a="http://schemas.openxmlformats.org/drawingml/2006/main">
              <a:ext uri="{FF2B5EF4-FFF2-40B4-BE49-F238E27FC236}">
                <a16:creationId xmlns:a16="http://schemas.microsoft.com/office/drawing/2014/main" id="{64CE0ABB-EF2D-47E8-B84C-3AED501DD8DB}"/>
              </a:ext>
            </a:extLst>
          </p:cNvPr>
          <p:cNvSpPr>
            <a:spLocks xmlns:a="http://schemas.openxmlformats.org/drawingml/2006/main" noGrp="1"/>
          </p:cNvSpPr>
          <p:nvPr/>
        </p:nvSpPr>
        <p:spPr>
          <a:xfrm xmlns:a="http://schemas.openxmlformats.org/drawingml/2006/main">
            <a:off x="749808" y="932688"/>
            <a:ext cx="10058400" cy="265176"/>
          </a:xfrm>
          <a:prstGeom xmlns:a="http://schemas.openxmlformats.org/drawingml/2006/main" prst="rect">
            <a:avLst/>
          </a:prstGeom>
          <a:noFill xmlns:a="http://schemas.openxmlformats.org/drawingml/2006/main"/>
        </p:spPr>
        <p:txBody>
          <a:bodyPr xmlns:a="http://schemas.openxmlformats.org/drawingml/2006/main" wrap="square" lIns="27432" tIns="36576" rIns="27432">
            <a:spAutoFit/>
          </a:bodyPr>
          <a:lstStyle xmlns:a="http://schemas.openxmlformats.org/drawingml/2006/main"/>
          <a:p xmlns:a="http://schemas.openxmlformats.org/drawingml/2006/main">
            <a:pPr algn="l">
              <a:spcAft>
                <a:spcPts val="600"/>
              </a:spcAft>
              <a:buNone/>
              <a:defRPr sz="1200" b="0">
                <a:solidFill>
                  <a:srgbClr val="BECBD6"/>
                </a:solidFill>
              </a:defRPr>
            </a:pPr>
            <a:r>
              <a:t>Spatial and temporal attention</a:t>
            </a:r>
          </a:p>
        </p:txBody>
      </p:sp>
      <p:sp>
        <p:nvSpPr>
          <p:cNvPr id="6" name="Rectangle 5">
            <a:extLst xmlns:a="http://schemas.openxmlformats.org/drawingml/2006/main">
              <a:ext uri="{FF2B5EF4-FFF2-40B4-BE49-F238E27FC236}">
                <a16:creationId xmlns:a16="http://schemas.microsoft.com/office/drawing/2014/main" id="{4685099A-7146-49E3-9E09-6F6822C66B2D}"/>
              </a:ext>
            </a:extLst>
          </p:cNvPr>
          <p:cNvSpPr>
            <a:spLocks xmlns:a="http://schemas.openxmlformats.org/drawingml/2006/main" noGrp="1"/>
          </p:cNvSpPr>
          <p:nvPr/>
        </p:nvSpPr>
        <p:spPr>
          <a:xfrm xmlns:a="http://schemas.openxmlformats.org/drawingml/2006/main">
            <a:off x="594360" y="6437376"/>
            <a:ext cx="11018520" cy="15544"/>
          </a:xfrm>
          <a:prstGeom xmlns:a="http://schemas.openxmlformats.org/drawingml/2006/main" prst="rect">
            <a:avLst/>
          </a:prstGeom>
          <a:solidFill xmlns:a="http://schemas.openxmlformats.org/drawingml/2006/main">
            <a:srgbClr val="41566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F11F8A24-2B1F-44D8-8944-9B9E0BF2F3DE}"/>
              </a:ext>
            </a:extLst>
          </p:cNvPr>
          <p:cNvSpPr>
            <a:spLocks xmlns:a="http://schemas.openxmlformats.org/drawingml/2006/main" noGrp="1"/>
          </p:cNvSpPr>
          <p:nvPr/>
        </p:nvSpPr>
        <p:spPr>
          <a:xfrm xmlns:a="http://schemas.openxmlformats.org/drawingml/2006/main">
            <a:off x="685800" y="6483096"/>
            <a:ext cx="9144000" cy="228600"/>
          </a:xfrm>
          <a:prstGeom xmlns:a="http://schemas.openxmlformats.org/drawingml/2006/main" prst="rect">
            <a:avLst/>
          </a:prstGeom>
          <a:noFill xmlns:a="http://schemas.openxmlformats.org/drawingml/2006/main"/>
        </p:spPr>
        <p:txBody>
          <a:bodyPr xmlns:a="http://schemas.openxmlformats.org/drawingml/2006/main" wrap="square" lIns="27432" tIns="36576" rIns="27432">
            <a:spAutoFit/>
          </a:bodyPr>
          <a:lstStyle xmlns:a="http://schemas.openxmlformats.org/drawingml/2006/main"/>
          <a:p xmlns:a="http://schemas.openxmlformats.org/drawingml/2006/main">
            <a:pPr algn="l">
              <a:spcAft>
                <a:spcPts val="600"/>
              </a:spcAft>
              <a:buNone/>
              <a:defRPr sz="900" b="0">
                <a:solidFill>
                  <a:srgbClr val="BECBD6"/>
                </a:solidFill>
              </a:defRPr>
            </a:pPr>
            <a:r>
              <a:t>MI classification · exploratory pipeline · group presentation</a:t>
            </a:r>
          </a:p>
        </p:txBody>
      </p:sp>
      <p:sp>
        <p:nvSpPr>
          <p:cNvPr id="8" name="TextBox 7">
            <a:extLst xmlns:a="http://schemas.openxmlformats.org/drawingml/2006/main">
              <a:ext uri="{FF2B5EF4-FFF2-40B4-BE49-F238E27FC236}">
                <a16:creationId xmlns:a16="http://schemas.microsoft.com/office/drawing/2014/main" id="{A34631AE-504E-42D9-809C-4FB179C26BD3}"/>
              </a:ext>
            </a:extLst>
          </p:cNvPr>
          <p:cNvSpPr>
            <a:spLocks xmlns:a="http://schemas.openxmlformats.org/drawingml/2006/main" noGrp="1"/>
          </p:cNvSpPr>
          <p:nvPr/>
        </p:nvSpPr>
        <p:spPr>
          <a:xfrm xmlns:a="http://schemas.openxmlformats.org/drawingml/2006/main">
            <a:off x="11128248" y="6483096"/>
            <a:ext cx="365760" cy="228600"/>
          </a:xfrm>
          <a:prstGeom xmlns:a="http://schemas.openxmlformats.org/drawingml/2006/main" prst="rect">
            <a:avLst/>
          </a:prstGeom>
          <a:noFill xmlns:a="http://schemas.openxmlformats.org/drawingml/2006/main"/>
        </p:spPr>
        <p:txBody>
          <a:bodyPr xmlns:a="http://schemas.openxmlformats.org/drawingml/2006/main" wrap="square" lIns="27432" tIns="36576" rIns="27432">
            <a:spAutoFit/>
          </a:bodyPr>
          <a:lstStyle xmlns:a="http://schemas.openxmlformats.org/drawingml/2006/main"/>
          <a:p xmlns:a="http://schemas.openxmlformats.org/drawingml/2006/main">
            <a:pPr algn="l">
              <a:spcAft>
                <a:spcPts val="600"/>
              </a:spcAft>
              <a:buNone/>
              <a:defRPr sz="900" b="0">
                <a:solidFill>
                  <a:srgbClr val="BECBD6"/>
                </a:solidFill>
              </a:defRPr>
            </a:pPr>
            <a:r>
              <a:t>05</a:t>
            </a:r>
          </a:p>
        </p:txBody>
      </p:sp>
      <p:sp>
        <p:nvSpPr>
          <p:cNvPr id="9" name="input">
            <a:extLst xmlns:a="http://schemas.openxmlformats.org/drawingml/2006/main">
              <a:ext uri="{FF2B5EF4-FFF2-40B4-BE49-F238E27FC236}">
                <a16:creationId xmlns:a16="http://schemas.microsoft.com/office/drawing/2014/main" id="{CDBB46F5-4BBD-45E5-AEB8-14DEC08B8E28}"/>
              </a:ext>
            </a:extLst>
          </p:cNvPr>
          <p:cNvSpPr>
            <a:spLocks xmlns:a="http://schemas.openxmlformats.org/drawingml/2006/main" noGrp="1"/>
          </p:cNvSpPr>
          <p:nvPr/>
        </p:nvSpPr>
        <p:spPr>
          <a:xfrm xmlns:a="http://schemas.openxmlformats.org/drawingml/2006/main">
            <a:off x="781050" y="1971675"/>
            <a:ext cx="1857375" cy="952500"/>
          </a:xfrm>
          <a:prstGeom xmlns:a="http://schemas.openxmlformats.org/drawingml/2006/main" prst="roundRect">
            <a:avLst>
              <a:gd name="adj" fmla="val 8000"/>
            </a:avLst>
          </a:prstGeom>
          <a:solidFill xmlns:a="http://schemas.openxmlformats.org/drawingml/2006/main">
            <a:srgbClr val="193148"/>
          </a:solidFill>
          <a:ln xmlns:a="http://schemas.openxmlformats.org/drawingml/2006/main" w="14288">
            <a:solidFill>
              <a:srgbClr val="53D0C8"/>
            </a:solidFill>
          </a:ln>
        </p:spPr>
      </p:sp>
      <p:sp>
        <p:nvSpPr>
          <p:cNvPr id="10" name="input-title">
            <a:extLst xmlns:a="http://schemas.openxmlformats.org/drawingml/2006/main">
              <a:ext uri="{FF2B5EF4-FFF2-40B4-BE49-F238E27FC236}">
                <a16:creationId xmlns:a16="http://schemas.microsoft.com/office/drawing/2014/main" id="{EE2BBA5C-BC5F-45D0-8AB7-9610C8288A3A}"/>
              </a:ext>
            </a:extLst>
          </p:cNvPr>
          <p:cNvSpPr>
            <a:spLocks xmlns:a="http://schemas.openxmlformats.org/drawingml/2006/main" noGrp="1"/>
          </p:cNvSpPr>
          <p:nvPr/>
        </p:nvSpPr>
        <p:spPr>
          <a:xfrm xmlns:a="http://schemas.openxmlformats.org/drawingml/2006/main">
            <a:off x="876300" y="2133600"/>
            <a:ext cx="1666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53D0C8"/>
                </a:solidFill>
              </a:defRPr>
            </a:defPPr>
          </a:lstStyle>
          <a:p xmlns:a="http://schemas.openxmlformats.org/drawingml/2006/main">
            <a:pPr algn="ctr">
              <a:defRPr sz="1650" b="1">
                <a:solidFill>
                  <a:srgbClr val="53D0C8"/>
                </a:solidFill>
              </a:defRPr>
            </a:pPr>
            <a:r>
              <a:rPr sz="1650" b="1">
                <a:solidFill>
                  <a:srgbClr val="53D0C8"/>
                </a:solidFill>
              </a:rPr>
              <a:t>Point clouds</a:t>
            </a:r>
          </a:p>
        </p:txBody>
      </p:sp>
      <p:sp>
        <p:nvSpPr>
          <p:cNvPr id="11" name="input-subtitle">
            <a:extLst xmlns:a="http://schemas.openxmlformats.org/drawingml/2006/main">
              <a:ext uri="{FF2B5EF4-FFF2-40B4-BE49-F238E27FC236}">
                <a16:creationId xmlns:a16="http://schemas.microsoft.com/office/drawing/2014/main" id="{0EAD252C-F9CF-447A-9D06-D0125AD9B886}"/>
              </a:ext>
            </a:extLst>
          </p:cNvPr>
          <p:cNvSpPr>
            <a:spLocks xmlns:a="http://schemas.openxmlformats.org/drawingml/2006/main" noGrp="1"/>
          </p:cNvSpPr>
          <p:nvPr/>
        </p:nvSpPr>
        <p:spPr>
          <a:xfrm xmlns:a="http://schemas.openxmlformats.org/drawingml/2006/main">
            <a:off x="857250" y="2476500"/>
            <a:ext cx="17049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F8FAFD"/>
                </a:solidFill>
              </a:defRPr>
            </a:defPPr>
          </a:lstStyle>
          <a:p xmlns:a="http://schemas.openxmlformats.org/drawingml/2006/main">
            <a:pPr algn="ctr">
              <a:defRPr sz="1350" b="0">
                <a:solidFill>
                  <a:srgbClr val="F8FAFD"/>
                </a:solidFill>
              </a:defRPr>
            </a:pPr>
            <a:r>
              <a:rPr sz="1350" b="0">
                <a:solidFill>
                  <a:srgbClr val="F8FAFD"/>
                </a:solidFill>
              </a:rPr>
              <a:t>10 frames</a:t>
            </a:r>
          </a:p>
          <a:p xmlns:a="http://schemas.openxmlformats.org/drawingml/2006/main">
            <a:pPr algn="ctr">
              <a:defRPr sz="1350" b="0">
                <a:solidFill>
                  <a:srgbClr val="F8FAFD"/>
                </a:solidFill>
              </a:defRPr>
            </a:pPr>
            <a:r>
              <a:rPr sz="1350" b="0">
                <a:solidFill>
                  <a:srgbClr val="F8FAFD"/>
                </a:solidFill>
              </a:rPr>
              <a:t>384 points/frame</a:t>
            </a:r>
          </a:p>
        </p:txBody>
      </p:sp>
      <p:sp>
        <p:nvSpPr>
          <p:cNvPr id="12" name="encoder">
            <a:extLst xmlns:a="http://schemas.openxmlformats.org/drawingml/2006/main">
              <a:ext uri="{FF2B5EF4-FFF2-40B4-BE49-F238E27FC236}">
                <a16:creationId xmlns:a16="http://schemas.microsoft.com/office/drawing/2014/main" id="{DA3DD542-C4B6-4F65-95E6-7FD17C1233DE}"/>
              </a:ext>
            </a:extLst>
          </p:cNvPr>
          <p:cNvSpPr>
            <a:spLocks xmlns:a="http://schemas.openxmlformats.org/drawingml/2006/main" noGrp="1"/>
          </p:cNvSpPr>
          <p:nvPr/>
        </p:nvSpPr>
        <p:spPr>
          <a:xfrm xmlns:a="http://schemas.openxmlformats.org/drawingml/2006/main">
            <a:off x="3076575" y="1971675"/>
            <a:ext cx="1809750" cy="952500"/>
          </a:xfrm>
          <a:prstGeom xmlns:a="http://schemas.openxmlformats.org/drawingml/2006/main" prst="roundRect">
            <a:avLst>
              <a:gd name="adj" fmla="val 8000"/>
            </a:avLst>
          </a:prstGeom>
          <a:solidFill xmlns:a="http://schemas.openxmlformats.org/drawingml/2006/main">
            <a:srgbClr val="193148"/>
          </a:solidFill>
          <a:ln xmlns:a="http://schemas.openxmlformats.org/drawingml/2006/main" w="14288">
            <a:solidFill>
              <a:srgbClr val="53D0C8"/>
            </a:solidFill>
          </a:ln>
        </p:spPr>
      </p:sp>
      <p:sp>
        <p:nvSpPr>
          <p:cNvPr id="13" name="encoder-title">
            <a:extLst xmlns:a="http://schemas.openxmlformats.org/drawingml/2006/main">
              <a:ext uri="{FF2B5EF4-FFF2-40B4-BE49-F238E27FC236}">
                <a16:creationId xmlns:a16="http://schemas.microsoft.com/office/drawing/2014/main" id="{4AC0867A-7DCF-4A7D-A114-018219C3EDAD}"/>
              </a:ext>
            </a:extLst>
          </p:cNvPr>
          <p:cNvSpPr>
            <a:spLocks xmlns:a="http://schemas.openxmlformats.org/drawingml/2006/main" noGrp="1"/>
          </p:cNvSpPr>
          <p:nvPr/>
        </p:nvSpPr>
        <p:spPr>
          <a:xfrm xmlns:a="http://schemas.openxmlformats.org/drawingml/2006/main">
            <a:off x="3171825" y="2133600"/>
            <a:ext cx="1619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53D0C8"/>
                </a:solidFill>
              </a:defRPr>
            </a:defPPr>
          </a:lstStyle>
          <a:p xmlns:a="http://schemas.openxmlformats.org/drawingml/2006/main">
            <a:pPr algn="ctr">
              <a:defRPr sz="1650" b="1">
                <a:solidFill>
                  <a:srgbClr val="53D0C8"/>
                </a:solidFill>
              </a:defRPr>
            </a:pPr>
            <a:r>
              <a:rPr sz="1650" b="1">
                <a:solidFill>
                  <a:srgbClr val="53D0C8"/>
                </a:solidFill>
              </a:rPr>
              <a:t>Encoder</a:t>
            </a:r>
          </a:p>
        </p:txBody>
      </p:sp>
      <p:sp>
        <p:nvSpPr>
          <p:cNvPr id="14" name="encoder-subtitle">
            <a:extLst xmlns:a="http://schemas.openxmlformats.org/drawingml/2006/main">
              <a:ext uri="{FF2B5EF4-FFF2-40B4-BE49-F238E27FC236}">
                <a16:creationId xmlns:a16="http://schemas.microsoft.com/office/drawing/2014/main" id="{CC88508C-D330-4BF5-8B0F-BC79BCD21F8D}"/>
              </a:ext>
            </a:extLst>
          </p:cNvPr>
          <p:cNvSpPr>
            <a:spLocks xmlns:a="http://schemas.openxmlformats.org/drawingml/2006/main" noGrp="1"/>
          </p:cNvSpPr>
          <p:nvPr/>
        </p:nvSpPr>
        <p:spPr>
          <a:xfrm xmlns:a="http://schemas.openxmlformats.org/drawingml/2006/main">
            <a:off x="3152775" y="2476500"/>
            <a:ext cx="1657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F8FAFD"/>
                </a:solidFill>
              </a:defRPr>
            </a:defPPr>
          </a:lstStyle>
          <a:p xmlns:a="http://schemas.openxmlformats.org/drawingml/2006/main">
            <a:pPr algn="ctr">
              <a:defRPr sz="1350" b="0">
                <a:solidFill>
                  <a:srgbClr val="F8FAFD"/>
                </a:solidFill>
              </a:defRPr>
            </a:pPr>
            <a:r>
              <a:rPr sz="1350" b="0">
                <a:solidFill>
                  <a:srgbClr val="F8FAFD"/>
                </a:solidFill>
              </a:rPr>
              <a:t>2 attention blocks</a:t>
            </a:r>
          </a:p>
        </p:txBody>
      </p:sp>
      <p:sp>
        <p:nvSpPr>
          <p:cNvPr id="15" name="latent">
            <a:extLst xmlns:a="http://schemas.openxmlformats.org/drawingml/2006/main">
              <a:ext uri="{FF2B5EF4-FFF2-40B4-BE49-F238E27FC236}">
                <a16:creationId xmlns:a16="http://schemas.microsoft.com/office/drawing/2014/main" id="{38D24533-E4C9-417F-B46F-4F634F998CFC}"/>
              </a:ext>
            </a:extLst>
          </p:cNvPr>
          <p:cNvSpPr>
            <a:spLocks xmlns:a="http://schemas.openxmlformats.org/drawingml/2006/main" noGrp="1"/>
          </p:cNvSpPr>
          <p:nvPr/>
        </p:nvSpPr>
        <p:spPr>
          <a:xfrm xmlns:a="http://schemas.openxmlformats.org/drawingml/2006/main">
            <a:off x="5324475" y="1971675"/>
            <a:ext cx="1657350" cy="952500"/>
          </a:xfrm>
          <a:prstGeom xmlns:a="http://schemas.openxmlformats.org/drawingml/2006/main" prst="roundRect">
            <a:avLst>
              <a:gd name="adj" fmla="val 8000"/>
            </a:avLst>
          </a:prstGeom>
          <a:solidFill xmlns:a="http://schemas.openxmlformats.org/drawingml/2006/main">
            <a:srgbClr val="193148"/>
          </a:solidFill>
          <a:ln xmlns:a="http://schemas.openxmlformats.org/drawingml/2006/main" w="14288">
            <a:solidFill>
              <a:srgbClr val="53D0C8"/>
            </a:solidFill>
          </a:ln>
        </p:spPr>
      </p:sp>
      <p:sp>
        <p:nvSpPr>
          <p:cNvPr id="16" name="latent-title">
            <a:extLst xmlns:a="http://schemas.openxmlformats.org/drawingml/2006/main">
              <a:ext uri="{FF2B5EF4-FFF2-40B4-BE49-F238E27FC236}">
                <a16:creationId xmlns:a16="http://schemas.microsoft.com/office/drawing/2014/main" id="{D0FDCA3E-F9D4-4D10-A94C-10467F9E53A3}"/>
              </a:ext>
            </a:extLst>
          </p:cNvPr>
          <p:cNvSpPr>
            <a:spLocks xmlns:a="http://schemas.openxmlformats.org/drawingml/2006/main" noGrp="1"/>
          </p:cNvSpPr>
          <p:nvPr/>
        </p:nvSpPr>
        <p:spPr>
          <a:xfrm xmlns:a="http://schemas.openxmlformats.org/drawingml/2006/main">
            <a:off x="5419725" y="2133600"/>
            <a:ext cx="14668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53D0C8"/>
                </a:solidFill>
              </a:defRPr>
            </a:defPPr>
          </a:lstStyle>
          <a:p xmlns:a="http://schemas.openxmlformats.org/drawingml/2006/main">
            <a:pPr algn="ctr">
              <a:defRPr sz="1650" b="1">
                <a:solidFill>
                  <a:srgbClr val="53D0C8"/>
                </a:solidFill>
              </a:defRPr>
            </a:pPr>
            <a:r>
              <a:rPr sz="1650" b="1">
                <a:solidFill>
                  <a:srgbClr val="53D0C8"/>
                </a:solidFill>
              </a:rPr>
              <a:t>8D latent</a:t>
            </a:r>
          </a:p>
        </p:txBody>
      </p:sp>
      <p:sp>
        <p:nvSpPr>
          <p:cNvPr id="17" name="latent-subtitle">
            <a:extLst xmlns:a="http://schemas.openxmlformats.org/drawingml/2006/main">
              <a:ext uri="{FF2B5EF4-FFF2-40B4-BE49-F238E27FC236}">
                <a16:creationId xmlns:a16="http://schemas.microsoft.com/office/drawing/2014/main" id="{F8DDEED0-A620-450A-9B68-3BD66D53B973}"/>
              </a:ext>
            </a:extLst>
          </p:cNvPr>
          <p:cNvSpPr>
            <a:spLocks xmlns:a="http://schemas.openxmlformats.org/drawingml/2006/main" noGrp="1"/>
          </p:cNvSpPr>
          <p:nvPr/>
        </p:nvSpPr>
        <p:spPr>
          <a:xfrm xmlns:a="http://schemas.openxmlformats.org/drawingml/2006/main">
            <a:off x="5400675" y="2476500"/>
            <a:ext cx="1504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F8FAFD"/>
                </a:solidFill>
              </a:defRPr>
            </a:defPPr>
          </a:lstStyle>
          <a:p xmlns:a="http://schemas.openxmlformats.org/drawingml/2006/main">
            <a:pPr algn="ctr">
              <a:defRPr sz="1350" b="0">
                <a:solidFill>
                  <a:srgbClr val="F8FAFD"/>
                </a:solidFill>
              </a:defRPr>
            </a:pPr>
            <a:r>
              <a:rPr sz="1350" b="0">
                <a:solidFill>
                  <a:srgbClr val="F8FAFD"/>
                </a:solidFill>
              </a:rPr>
              <a:t>μ, log σ²</a:t>
            </a:r>
          </a:p>
        </p:txBody>
      </p:sp>
      <p:sp>
        <p:nvSpPr>
          <p:cNvPr id="18" name="decoder">
            <a:extLst xmlns:a="http://schemas.openxmlformats.org/drawingml/2006/main">
              <a:ext uri="{FF2B5EF4-FFF2-40B4-BE49-F238E27FC236}">
                <a16:creationId xmlns:a16="http://schemas.microsoft.com/office/drawing/2014/main" id="{1702EA05-1C30-443B-959A-896D320E94AC}"/>
              </a:ext>
            </a:extLst>
          </p:cNvPr>
          <p:cNvSpPr>
            <a:spLocks xmlns:a="http://schemas.openxmlformats.org/drawingml/2006/main" noGrp="1"/>
          </p:cNvSpPr>
          <p:nvPr/>
        </p:nvSpPr>
        <p:spPr>
          <a:xfrm xmlns:a="http://schemas.openxmlformats.org/drawingml/2006/main">
            <a:off x="7419975" y="1971675"/>
            <a:ext cx="1809750" cy="952500"/>
          </a:xfrm>
          <a:prstGeom xmlns:a="http://schemas.openxmlformats.org/drawingml/2006/main" prst="roundRect">
            <a:avLst>
              <a:gd name="adj" fmla="val 8000"/>
            </a:avLst>
          </a:prstGeom>
          <a:solidFill xmlns:a="http://schemas.openxmlformats.org/drawingml/2006/main">
            <a:srgbClr val="193148"/>
          </a:solidFill>
          <a:ln xmlns:a="http://schemas.openxmlformats.org/drawingml/2006/main" w="14288">
            <a:solidFill>
              <a:srgbClr val="53D0C8"/>
            </a:solidFill>
          </a:ln>
        </p:spPr>
      </p:sp>
      <p:sp>
        <p:nvSpPr>
          <p:cNvPr id="19" name="decoder-title">
            <a:extLst xmlns:a="http://schemas.openxmlformats.org/drawingml/2006/main">
              <a:ext uri="{FF2B5EF4-FFF2-40B4-BE49-F238E27FC236}">
                <a16:creationId xmlns:a16="http://schemas.microsoft.com/office/drawing/2014/main" id="{7605783D-41C7-4F03-ABF5-7EA8C1331420}"/>
              </a:ext>
            </a:extLst>
          </p:cNvPr>
          <p:cNvSpPr>
            <a:spLocks xmlns:a="http://schemas.openxmlformats.org/drawingml/2006/main" noGrp="1"/>
          </p:cNvSpPr>
          <p:nvPr/>
        </p:nvSpPr>
        <p:spPr>
          <a:xfrm xmlns:a="http://schemas.openxmlformats.org/drawingml/2006/main">
            <a:off x="7515225" y="2133600"/>
            <a:ext cx="1619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53D0C8"/>
                </a:solidFill>
              </a:defRPr>
            </a:defPPr>
          </a:lstStyle>
          <a:p xmlns:a="http://schemas.openxmlformats.org/drawingml/2006/main">
            <a:pPr algn="ctr">
              <a:defRPr sz="1650" b="1">
                <a:solidFill>
                  <a:srgbClr val="53D0C8"/>
                </a:solidFill>
              </a:defRPr>
            </a:pPr>
            <a:r>
              <a:rPr sz="1650" b="1">
                <a:solidFill>
                  <a:srgbClr val="53D0C8"/>
                </a:solidFill>
              </a:rPr>
              <a:t>Decoder</a:t>
            </a:r>
          </a:p>
        </p:txBody>
      </p:sp>
      <p:sp>
        <p:nvSpPr>
          <p:cNvPr id="20" name="decoder-subtitle">
            <a:extLst xmlns:a="http://schemas.openxmlformats.org/drawingml/2006/main">
              <a:ext uri="{FF2B5EF4-FFF2-40B4-BE49-F238E27FC236}">
                <a16:creationId xmlns:a16="http://schemas.microsoft.com/office/drawing/2014/main" id="{C64275C7-D38E-4B1B-B935-AC5DF045617D}"/>
              </a:ext>
            </a:extLst>
          </p:cNvPr>
          <p:cNvSpPr>
            <a:spLocks xmlns:a="http://schemas.openxmlformats.org/drawingml/2006/main" noGrp="1"/>
          </p:cNvSpPr>
          <p:nvPr/>
        </p:nvSpPr>
        <p:spPr>
          <a:xfrm xmlns:a="http://schemas.openxmlformats.org/drawingml/2006/main">
            <a:off x="7496175" y="2476500"/>
            <a:ext cx="1657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F8FAFD"/>
                </a:solidFill>
              </a:defRPr>
            </a:defPPr>
          </a:lstStyle>
          <a:p xmlns:a="http://schemas.openxmlformats.org/drawingml/2006/main">
            <a:pPr algn="ctr">
              <a:defRPr sz="1350" b="0">
                <a:solidFill>
                  <a:srgbClr val="F8FAFD"/>
                </a:solidFill>
              </a:defRPr>
            </a:pPr>
            <a:r>
              <a:rPr sz="1350" b="0">
                <a:solidFill>
                  <a:srgbClr val="F8FAFD"/>
                </a:solidFill>
              </a:rPr>
              <a:t>1 attention block</a:t>
            </a:r>
          </a:p>
        </p:txBody>
      </p:sp>
      <p:sp>
        <p:nvSpPr>
          <p:cNvPr id="21" name="reconstruction">
            <a:extLst xmlns:a="http://schemas.openxmlformats.org/drawingml/2006/main">
              <a:ext uri="{FF2B5EF4-FFF2-40B4-BE49-F238E27FC236}">
                <a16:creationId xmlns:a16="http://schemas.microsoft.com/office/drawing/2014/main" id="{570B03F8-1534-4417-8C29-7ACC864F1AC0}"/>
              </a:ext>
            </a:extLst>
          </p:cNvPr>
          <p:cNvSpPr>
            <a:spLocks xmlns:a="http://schemas.openxmlformats.org/drawingml/2006/main" noGrp="1"/>
          </p:cNvSpPr>
          <p:nvPr/>
        </p:nvSpPr>
        <p:spPr>
          <a:xfrm xmlns:a="http://schemas.openxmlformats.org/drawingml/2006/main">
            <a:off x="9667875" y="1971675"/>
            <a:ext cx="1762125" cy="952500"/>
          </a:xfrm>
          <a:prstGeom xmlns:a="http://schemas.openxmlformats.org/drawingml/2006/main" prst="roundRect">
            <a:avLst>
              <a:gd name="adj" fmla="val 8000"/>
            </a:avLst>
          </a:prstGeom>
          <a:solidFill xmlns:a="http://schemas.openxmlformats.org/drawingml/2006/main">
            <a:srgbClr val="193148"/>
          </a:solidFill>
          <a:ln xmlns:a="http://schemas.openxmlformats.org/drawingml/2006/main" w="14288">
            <a:solidFill>
              <a:srgbClr val="53D0C8"/>
            </a:solidFill>
          </a:ln>
        </p:spPr>
      </p:sp>
      <p:sp>
        <p:nvSpPr>
          <p:cNvPr id="22" name="reconstruction-title">
            <a:extLst xmlns:a="http://schemas.openxmlformats.org/drawingml/2006/main">
              <a:ext uri="{FF2B5EF4-FFF2-40B4-BE49-F238E27FC236}">
                <a16:creationId xmlns:a16="http://schemas.microsoft.com/office/drawing/2014/main" id="{B34D18A9-8B79-4807-AE5C-B105444F4918}"/>
              </a:ext>
            </a:extLst>
          </p:cNvPr>
          <p:cNvSpPr>
            <a:spLocks xmlns:a="http://schemas.openxmlformats.org/drawingml/2006/main" noGrp="1"/>
          </p:cNvSpPr>
          <p:nvPr/>
        </p:nvSpPr>
        <p:spPr>
          <a:xfrm xmlns:a="http://schemas.openxmlformats.org/drawingml/2006/main">
            <a:off x="9763125" y="2133600"/>
            <a:ext cx="1571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53D0C8"/>
                </a:solidFill>
              </a:defRPr>
            </a:defPPr>
          </a:lstStyle>
          <a:p xmlns:a="http://schemas.openxmlformats.org/drawingml/2006/main">
            <a:pPr algn="ctr">
              <a:defRPr sz="1650" b="1">
                <a:solidFill>
                  <a:srgbClr val="53D0C8"/>
                </a:solidFill>
              </a:defRPr>
            </a:pPr>
            <a:r>
              <a:rPr sz="1650" b="1">
                <a:solidFill>
                  <a:srgbClr val="53D0C8"/>
                </a:solidFill>
              </a:rPr>
              <a:t>Reconstruction</a:t>
            </a:r>
          </a:p>
        </p:txBody>
      </p:sp>
      <p:sp>
        <p:nvSpPr>
          <p:cNvPr id="23" name="reconstruction-subtitle">
            <a:extLst xmlns:a="http://schemas.openxmlformats.org/drawingml/2006/main">
              <a:ext uri="{FF2B5EF4-FFF2-40B4-BE49-F238E27FC236}">
                <a16:creationId xmlns:a16="http://schemas.microsoft.com/office/drawing/2014/main" id="{DD4A29DC-9C59-4C06-B122-2A41D40F41CA}"/>
              </a:ext>
            </a:extLst>
          </p:cNvPr>
          <p:cNvSpPr>
            <a:spLocks xmlns:a="http://schemas.openxmlformats.org/drawingml/2006/main" noGrp="1"/>
          </p:cNvSpPr>
          <p:nvPr/>
        </p:nvSpPr>
        <p:spPr>
          <a:xfrm xmlns:a="http://schemas.openxmlformats.org/drawingml/2006/main">
            <a:off x="9744075" y="2476500"/>
            <a:ext cx="1609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F8FAFD"/>
                </a:solidFill>
              </a:defRPr>
            </a:defPPr>
          </a:lstStyle>
          <a:p xmlns:a="http://schemas.openxmlformats.org/drawingml/2006/main">
            <a:pPr algn="ctr">
              <a:defRPr sz="1350" b="0">
                <a:solidFill>
                  <a:srgbClr val="F8FAFD"/>
                </a:solidFill>
              </a:defRPr>
            </a:pPr>
            <a:r>
              <a:rPr sz="1350" b="0">
                <a:solidFill>
                  <a:srgbClr val="F8FAFD"/>
                </a:solidFill>
              </a:rPr>
              <a:t>10 × 384 XYZ</a:t>
            </a:r>
          </a:p>
        </p:txBody>
      </p:sp>
      <p:cxnSp>
        <p:nvCxnSpPr>
          <p:cNvPr id="24" name="">
            <a:extLst xmlns:a="http://schemas.openxmlformats.org/drawingml/2006/main">
              <a:ext uri="{FF2B5EF4-FFF2-40B4-BE49-F238E27FC236}">
                <a16:creationId xmlns:a16="http://schemas.microsoft.com/office/drawing/2014/main" id="{D70F4725-D405-4A14-B98F-E6E489EEFA10}"/>
              </a:ext>
            </a:extLst>
          </p:cNvPr>
          <p:cNvCxnSpPr>
            <a:stCxn xmlns:a="http://schemas.openxmlformats.org/drawingml/2006/main" id="9" idx="3"/>
            <a:endCxn xmlns:a="http://schemas.openxmlformats.org/drawingml/2006/main" id="12" idx="1"/>
          </p:cNvCxnSpPr>
          <p:nvPr/>
        </p:nvCxnSpPr>
        <p:spPr>
          <a:xfrm xmlns:a="http://schemas.openxmlformats.org/drawingml/2006/main">
            <a:off x="2638425" y="2447925"/>
            <a:ext cx="438150" cy="0"/>
          </a:xfrm>
          <a:prstGeom xmlns:a="http://schemas.openxmlformats.org/drawingml/2006/main" prst="straightConnector1">
            <a:avLst/>
          </a:prstGeom>
          <a:ln xmlns:a="http://schemas.openxmlformats.org/drawingml/2006/main" w="19050">
            <a:solidFill>
              <a:srgbClr val="BECBD6"/>
            </a:solidFill>
            <a:tailEnd type="triangle" w="med" len="med"/>
          </a:ln>
        </p:spPr>
      </p:cxnSp>
      <p:cxnSp>
        <p:nvCxnSpPr>
          <p:cNvPr id="25" name="">
            <a:extLst xmlns:a="http://schemas.openxmlformats.org/drawingml/2006/main">
              <a:ext uri="{FF2B5EF4-FFF2-40B4-BE49-F238E27FC236}">
                <a16:creationId xmlns:a16="http://schemas.microsoft.com/office/drawing/2014/main" id="{11376A2F-EB54-4120-AC4B-E7FBA8565F53}"/>
              </a:ext>
            </a:extLst>
          </p:cNvPr>
          <p:cNvCxnSpPr>
            <a:stCxn xmlns:a="http://schemas.openxmlformats.org/drawingml/2006/main" id="12" idx="3"/>
            <a:endCxn xmlns:a="http://schemas.openxmlformats.org/drawingml/2006/main" id="15" idx="1"/>
          </p:cNvCxnSpPr>
          <p:nvPr/>
        </p:nvCxnSpPr>
        <p:spPr>
          <a:xfrm xmlns:a="http://schemas.openxmlformats.org/drawingml/2006/main">
            <a:off x="4886325" y="2447925"/>
            <a:ext cx="438150" cy="0"/>
          </a:xfrm>
          <a:prstGeom xmlns:a="http://schemas.openxmlformats.org/drawingml/2006/main" prst="straightConnector1">
            <a:avLst/>
          </a:prstGeom>
          <a:ln xmlns:a="http://schemas.openxmlformats.org/drawingml/2006/main" w="19050">
            <a:solidFill>
              <a:srgbClr val="BECBD6"/>
            </a:solidFill>
            <a:tailEnd type="triangle" w="med" len="med"/>
          </a:ln>
        </p:spPr>
      </p:cxnSp>
      <p:cxnSp>
        <p:nvCxnSpPr>
          <p:cNvPr id="26" name="">
            <a:extLst xmlns:a="http://schemas.openxmlformats.org/drawingml/2006/main">
              <a:ext uri="{FF2B5EF4-FFF2-40B4-BE49-F238E27FC236}">
                <a16:creationId xmlns:a16="http://schemas.microsoft.com/office/drawing/2014/main" id="{B794043D-9194-4B17-832C-20D95A8123E8}"/>
              </a:ext>
            </a:extLst>
          </p:cNvPr>
          <p:cNvCxnSpPr>
            <a:stCxn xmlns:a="http://schemas.openxmlformats.org/drawingml/2006/main" id="15" idx="3"/>
            <a:endCxn xmlns:a="http://schemas.openxmlformats.org/drawingml/2006/main" id="18" idx="1"/>
          </p:cNvCxnSpPr>
          <p:nvPr/>
        </p:nvCxnSpPr>
        <p:spPr>
          <a:xfrm xmlns:a="http://schemas.openxmlformats.org/drawingml/2006/main">
            <a:off x="6981825" y="2447925"/>
            <a:ext cx="438150" cy="0"/>
          </a:xfrm>
          <a:prstGeom xmlns:a="http://schemas.openxmlformats.org/drawingml/2006/main" prst="straightConnector1">
            <a:avLst/>
          </a:prstGeom>
          <a:ln xmlns:a="http://schemas.openxmlformats.org/drawingml/2006/main" w="19050">
            <a:solidFill>
              <a:srgbClr val="BECBD6"/>
            </a:solidFill>
            <a:tailEnd type="triangle" w="med" len="med"/>
          </a:ln>
        </p:spPr>
      </p:cxnSp>
      <p:cxnSp>
        <p:nvCxnSpPr>
          <p:cNvPr id="27" name="">
            <a:extLst xmlns:a="http://schemas.openxmlformats.org/drawingml/2006/main">
              <a:ext uri="{FF2B5EF4-FFF2-40B4-BE49-F238E27FC236}">
                <a16:creationId xmlns:a16="http://schemas.microsoft.com/office/drawing/2014/main" id="{9BD2B8C4-5203-4DAF-AFE8-2D55D60A04FD}"/>
              </a:ext>
            </a:extLst>
          </p:cNvPr>
          <p:cNvCxnSpPr>
            <a:stCxn xmlns:a="http://schemas.openxmlformats.org/drawingml/2006/main" id="18" idx="3"/>
            <a:endCxn xmlns:a="http://schemas.openxmlformats.org/drawingml/2006/main" id="21" idx="1"/>
          </p:cNvCxnSpPr>
          <p:nvPr/>
        </p:nvCxnSpPr>
        <p:spPr>
          <a:xfrm xmlns:a="http://schemas.openxmlformats.org/drawingml/2006/main">
            <a:off x="9229725" y="2447925"/>
            <a:ext cx="438150" cy="0"/>
          </a:xfrm>
          <a:prstGeom xmlns:a="http://schemas.openxmlformats.org/drawingml/2006/main" prst="straightConnector1">
            <a:avLst/>
          </a:prstGeom>
          <a:ln xmlns:a="http://schemas.openxmlformats.org/drawingml/2006/main" w="19050">
            <a:solidFill>
              <a:srgbClr val="BECBD6"/>
            </a:solidFill>
            <a:tailEnd type="triangle" w="med" len="med"/>
          </a:ln>
        </p:spPr>
      </p:cxnSp>
      <p:sp>
        <p:nvSpPr>
          <p:cNvPr id="28" name="sample-label">
            <a:extLst xmlns:a="http://schemas.openxmlformats.org/drawingml/2006/main">
              <a:ext uri="{FF2B5EF4-FFF2-40B4-BE49-F238E27FC236}">
                <a16:creationId xmlns:a16="http://schemas.microsoft.com/office/drawing/2014/main" id="{51151047-D879-4A16-A7B6-F74841B4F9C4}"/>
              </a:ext>
            </a:extLst>
          </p:cNvPr>
          <p:cNvSpPr>
            <a:spLocks xmlns:a="http://schemas.openxmlformats.org/drawingml/2006/main" noGrp="1"/>
          </p:cNvSpPr>
          <p:nvPr/>
        </p:nvSpPr>
        <p:spPr>
          <a:xfrm xmlns:a="http://schemas.openxmlformats.org/drawingml/2006/main">
            <a:off x="6962775" y="16573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BECBD6"/>
                </a:solidFill>
              </a:defRPr>
            </a:defPPr>
          </a:lstStyle>
          <a:p xmlns:a="http://schemas.openxmlformats.org/drawingml/2006/main">
            <a:pPr algn="ctr">
              <a:defRPr sz="1275" b="0">
                <a:solidFill>
                  <a:srgbClr val="BECBD6"/>
                </a:solidFill>
              </a:defRPr>
            </a:pPr>
            <a:r>
              <a:rPr sz="1275" b="0">
                <a:solidFill>
                  <a:srgbClr val="BECBD6"/>
                </a:solidFill>
              </a:rPr>
              <a:t>sample z</a:t>
            </a:r>
          </a:p>
        </p:txBody>
      </p:sp>
      <p:sp>
        <p:nvSpPr>
          <p:cNvPr id="29" name="demographics">
            <a:extLst xmlns:a="http://schemas.openxmlformats.org/drawingml/2006/main">
              <a:ext uri="{FF2B5EF4-FFF2-40B4-BE49-F238E27FC236}">
                <a16:creationId xmlns:a16="http://schemas.microsoft.com/office/drawing/2014/main" id="{71086FBE-D428-4F65-ABB4-79E481980C72}"/>
              </a:ext>
            </a:extLst>
          </p:cNvPr>
          <p:cNvSpPr>
            <a:spLocks xmlns:a="http://schemas.openxmlformats.org/drawingml/2006/main" noGrp="1"/>
          </p:cNvSpPr>
          <p:nvPr/>
        </p:nvSpPr>
        <p:spPr>
          <a:xfrm xmlns:a="http://schemas.openxmlformats.org/drawingml/2006/main">
            <a:off x="2886075" y="4143375"/>
            <a:ext cx="1809750" cy="952500"/>
          </a:xfrm>
          <a:prstGeom xmlns:a="http://schemas.openxmlformats.org/drawingml/2006/main" prst="roundRect">
            <a:avLst>
              <a:gd name="adj" fmla="val 8000"/>
            </a:avLst>
          </a:prstGeom>
          <a:solidFill xmlns:a="http://schemas.openxmlformats.org/drawingml/2006/main">
            <a:srgbClr val="193148"/>
          </a:solidFill>
          <a:ln xmlns:a="http://schemas.openxmlformats.org/drawingml/2006/main" w="14288">
            <a:solidFill>
              <a:srgbClr val="75B5D2"/>
            </a:solidFill>
          </a:ln>
        </p:spPr>
      </p:sp>
      <p:sp>
        <p:nvSpPr>
          <p:cNvPr id="30" name="demographics-title">
            <a:extLst xmlns:a="http://schemas.openxmlformats.org/drawingml/2006/main">
              <a:ext uri="{FF2B5EF4-FFF2-40B4-BE49-F238E27FC236}">
                <a16:creationId xmlns:a16="http://schemas.microsoft.com/office/drawing/2014/main" id="{8FBC73DA-4066-4871-8CF2-88D527F0EAC3}"/>
              </a:ext>
            </a:extLst>
          </p:cNvPr>
          <p:cNvSpPr>
            <a:spLocks xmlns:a="http://schemas.openxmlformats.org/drawingml/2006/main" noGrp="1"/>
          </p:cNvSpPr>
          <p:nvPr/>
        </p:nvSpPr>
        <p:spPr>
          <a:xfrm xmlns:a="http://schemas.openxmlformats.org/drawingml/2006/main">
            <a:off x="2981325" y="4305300"/>
            <a:ext cx="1619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75B5D2"/>
                </a:solidFill>
              </a:defRPr>
            </a:defPPr>
          </a:lstStyle>
          <a:p xmlns:a="http://schemas.openxmlformats.org/drawingml/2006/main">
            <a:pPr algn="ctr">
              <a:defRPr sz="1650" b="1">
                <a:solidFill>
                  <a:srgbClr val="75B5D2"/>
                </a:solidFill>
              </a:defRPr>
            </a:pPr>
            <a:r>
              <a:rPr sz="1650" b="1">
                <a:solidFill>
                  <a:srgbClr val="75B5D2"/>
                </a:solidFill>
              </a:rPr>
              <a:t>Demographics</a:t>
            </a:r>
          </a:p>
        </p:txBody>
      </p:sp>
      <p:sp>
        <p:nvSpPr>
          <p:cNvPr id="31" name="demographics-subtitle">
            <a:extLst xmlns:a="http://schemas.openxmlformats.org/drawingml/2006/main">
              <a:ext uri="{FF2B5EF4-FFF2-40B4-BE49-F238E27FC236}">
                <a16:creationId xmlns:a16="http://schemas.microsoft.com/office/drawing/2014/main" id="{9598F650-FCB9-4591-86C8-A0E7244F61E5}"/>
              </a:ext>
            </a:extLst>
          </p:cNvPr>
          <p:cNvSpPr>
            <a:spLocks xmlns:a="http://schemas.openxmlformats.org/drawingml/2006/main" noGrp="1"/>
          </p:cNvSpPr>
          <p:nvPr/>
        </p:nvSpPr>
        <p:spPr>
          <a:xfrm xmlns:a="http://schemas.openxmlformats.org/drawingml/2006/main">
            <a:off x="2962275" y="4648200"/>
            <a:ext cx="1657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F8FAFD"/>
                </a:solidFill>
              </a:defRPr>
            </a:defPPr>
          </a:lstStyle>
          <a:p xmlns:a="http://schemas.openxmlformats.org/drawingml/2006/main">
            <a:pPr algn="ctr">
              <a:defRPr sz="1350" b="0">
                <a:solidFill>
                  <a:srgbClr val="F8FAFD"/>
                </a:solidFill>
              </a:defRPr>
            </a:pPr>
            <a:r>
              <a:rPr sz="1350" b="0">
                <a:solidFill>
                  <a:srgbClr val="F8FAFD"/>
                </a:solidFill>
              </a:rPr>
              <a:t>7 features</a:t>
            </a:r>
          </a:p>
        </p:txBody>
      </p:sp>
      <p:sp>
        <p:nvSpPr>
          <p:cNvPr id="32" name="classifier">
            <a:extLst xmlns:a="http://schemas.openxmlformats.org/drawingml/2006/main">
              <a:ext uri="{FF2B5EF4-FFF2-40B4-BE49-F238E27FC236}">
                <a16:creationId xmlns:a16="http://schemas.microsoft.com/office/drawing/2014/main" id="{1A8F876A-5E52-4B9A-B6DB-5DD5AB81C17F}"/>
              </a:ext>
            </a:extLst>
          </p:cNvPr>
          <p:cNvSpPr>
            <a:spLocks xmlns:a="http://schemas.openxmlformats.org/drawingml/2006/main" noGrp="1"/>
          </p:cNvSpPr>
          <p:nvPr/>
        </p:nvSpPr>
        <p:spPr>
          <a:xfrm xmlns:a="http://schemas.openxmlformats.org/drawingml/2006/main">
            <a:off x="5153025" y="4143375"/>
            <a:ext cx="2000250" cy="952500"/>
          </a:xfrm>
          <a:prstGeom xmlns:a="http://schemas.openxmlformats.org/drawingml/2006/main" prst="roundRect">
            <a:avLst>
              <a:gd name="adj" fmla="val 8000"/>
            </a:avLst>
          </a:prstGeom>
          <a:solidFill xmlns:a="http://schemas.openxmlformats.org/drawingml/2006/main">
            <a:srgbClr val="193148"/>
          </a:solidFill>
          <a:ln xmlns:a="http://schemas.openxmlformats.org/drawingml/2006/main" w="14288">
            <a:solidFill>
              <a:srgbClr val="53D0C8"/>
            </a:solidFill>
          </a:ln>
        </p:spPr>
      </p:sp>
      <p:sp>
        <p:nvSpPr>
          <p:cNvPr id="33" name="classifier-title">
            <a:extLst xmlns:a="http://schemas.openxmlformats.org/drawingml/2006/main">
              <a:ext uri="{FF2B5EF4-FFF2-40B4-BE49-F238E27FC236}">
                <a16:creationId xmlns:a16="http://schemas.microsoft.com/office/drawing/2014/main" id="{E2107077-0D94-498D-A4CC-54380484B5B9}"/>
              </a:ext>
            </a:extLst>
          </p:cNvPr>
          <p:cNvSpPr>
            <a:spLocks xmlns:a="http://schemas.openxmlformats.org/drawingml/2006/main" noGrp="1"/>
          </p:cNvSpPr>
          <p:nvPr/>
        </p:nvSpPr>
        <p:spPr>
          <a:xfrm xmlns:a="http://schemas.openxmlformats.org/drawingml/2006/main">
            <a:off x="5248275" y="4305300"/>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53D0C8"/>
                </a:solidFill>
              </a:defRPr>
            </a:defPPr>
          </a:lstStyle>
          <a:p xmlns:a="http://schemas.openxmlformats.org/drawingml/2006/main">
            <a:pPr algn="ctr">
              <a:defRPr sz="1650" b="1">
                <a:solidFill>
                  <a:srgbClr val="53D0C8"/>
                </a:solidFill>
              </a:defRPr>
            </a:pPr>
            <a:r>
              <a:rPr sz="1650" b="1">
                <a:solidFill>
                  <a:srgbClr val="53D0C8"/>
                </a:solidFill>
              </a:rPr>
              <a:t>MI classifier</a:t>
            </a:r>
          </a:p>
        </p:txBody>
      </p:sp>
      <p:sp>
        <p:nvSpPr>
          <p:cNvPr id="34" name="classifier-subtitle">
            <a:extLst xmlns:a="http://schemas.openxmlformats.org/drawingml/2006/main">
              <a:ext uri="{FF2B5EF4-FFF2-40B4-BE49-F238E27FC236}">
                <a16:creationId xmlns:a16="http://schemas.microsoft.com/office/drawing/2014/main" id="{2FA0DFE6-BFC5-44E6-B4FB-E99C47734BC1}"/>
              </a:ext>
            </a:extLst>
          </p:cNvPr>
          <p:cNvSpPr>
            <a:spLocks xmlns:a="http://schemas.openxmlformats.org/drawingml/2006/main" noGrp="1"/>
          </p:cNvSpPr>
          <p:nvPr/>
        </p:nvSpPr>
        <p:spPr>
          <a:xfrm xmlns:a="http://schemas.openxmlformats.org/drawingml/2006/main">
            <a:off x="5229225" y="4648200"/>
            <a:ext cx="1847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F8FAFD"/>
                </a:solidFill>
              </a:defRPr>
            </a:defPPr>
          </a:lstStyle>
          <a:p xmlns:a="http://schemas.openxmlformats.org/drawingml/2006/main">
            <a:pPr algn="ctr">
              <a:defRPr sz="1350" b="0">
                <a:solidFill>
                  <a:srgbClr val="F8FAFD"/>
                </a:solidFill>
              </a:defRPr>
            </a:pPr>
            <a:r>
              <a:rPr sz="1350" b="0">
                <a:solidFill>
                  <a:srgbClr val="F8FAFD"/>
                </a:solidFill>
              </a:rPr>
              <a:t>128, 64 units</a:t>
            </a:r>
          </a:p>
        </p:txBody>
      </p:sp>
      <p:sp>
        <p:nvSpPr>
          <p:cNvPr id="35" name="probability">
            <a:extLst xmlns:a="http://schemas.openxmlformats.org/drawingml/2006/main">
              <a:ext uri="{FF2B5EF4-FFF2-40B4-BE49-F238E27FC236}">
                <a16:creationId xmlns:a16="http://schemas.microsoft.com/office/drawing/2014/main" id="{EC23AEAF-9272-437B-895B-DD88AED8EEE7}"/>
              </a:ext>
            </a:extLst>
          </p:cNvPr>
          <p:cNvSpPr>
            <a:spLocks xmlns:a="http://schemas.openxmlformats.org/drawingml/2006/main" noGrp="1"/>
          </p:cNvSpPr>
          <p:nvPr/>
        </p:nvSpPr>
        <p:spPr>
          <a:xfrm xmlns:a="http://schemas.openxmlformats.org/drawingml/2006/main">
            <a:off x="7896225" y="4143375"/>
            <a:ext cx="1762125" cy="952500"/>
          </a:xfrm>
          <a:prstGeom xmlns:a="http://schemas.openxmlformats.org/drawingml/2006/main" prst="roundRect">
            <a:avLst>
              <a:gd name="adj" fmla="val 8000"/>
            </a:avLst>
          </a:prstGeom>
          <a:solidFill xmlns:a="http://schemas.openxmlformats.org/drawingml/2006/main">
            <a:srgbClr val="193148"/>
          </a:solidFill>
          <a:ln xmlns:a="http://schemas.openxmlformats.org/drawingml/2006/main" w="14288">
            <a:solidFill>
              <a:srgbClr val="F6A896"/>
            </a:solidFill>
          </a:ln>
        </p:spPr>
      </p:sp>
      <p:sp>
        <p:nvSpPr>
          <p:cNvPr id="36" name="probability-title">
            <a:extLst xmlns:a="http://schemas.openxmlformats.org/drawingml/2006/main">
              <a:ext uri="{FF2B5EF4-FFF2-40B4-BE49-F238E27FC236}">
                <a16:creationId xmlns:a16="http://schemas.microsoft.com/office/drawing/2014/main" id="{ECA2E124-AF99-4498-8419-013D5160A90A}"/>
              </a:ext>
            </a:extLst>
          </p:cNvPr>
          <p:cNvSpPr>
            <a:spLocks xmlns:a="http://schemas.openxmlformats.org/drawingml/2006/main" noGrp="1"/>
          </p:cNvSpPr>
          <p:nvPr/>
        </p:nvSpPr>
        <p:spPr>
          <a:xfrm xmlns:a="http://schemas.openxmlformats.org/drawingml/2006/main">
            <a:off x="7991475" y="4305300"/>
            <a:ext cx="15716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650" b="1">
                <a:solidFill>
                  <a:srgbClr val="F6A896"/>
                </a:solidFill>
              </a:defRPr>
            </a:defPPr>
          </a:lstStyle>
          <a:p xmlns:a="http://schemas.openxmlformats.org/drawingml/2006/main">
            <a:pPr algn="ctr">
              <a:defRPr sz="1650" b="1">
                <a:solidFill>
                  <a:srgbClr val="F6A896"/>
                </a:solidFill>
              </a:defRPr>
            </a:pPr>
            <a:r>
              <a:rPr sz="1650" b="1">
                <a:solidFill>
                  <a:srgbClr val="F6A896"/>
                </a:solidFill>
              </a:rPr>
              <a:t>P(pMI)</a:t>
            </a:r>
          </a:p>
        </p:txBody>
      </p:sp>
      <p:sp>
        <p:nvSpPr>
          <p:cNvPr id="37" name="probability-subtitle">
            <a:extLst xmlns:a="http://schemas.openxmlformats.org/drawingml/2006/main">
              <a:ext uri="{FF2B5EF4-FFF2-40B4-BE49-F238E27FC236}">
                <a16:creationId xmlns:a16="http://schemas.microsoft.com/office/drawing/2014/main" id="{91771F00-39DA-4E46-B49E-3D8E923324A5}"/>
              </a:ext>
            </a:extLst>
          </p:cNvPr>
          <p:cNvSpPr>
            <a:spLocks xmlns:a="http://schemas.openxmlformats.org/drawingml/2006/main" noGrp="1"/>
          </p:cNvSpPr>
          <p:nvPr/>
        </p:nvSpPr>
        <p:spPr>
          <a:xfrm xmlns:a="http://schemas.openxmlformats.org/drawingml/2006/main">
            <a:off x="7972425" y="4648200"/>
            <a:ext cx="1609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350" b="0">
                <a:solidFill>
                  <a:srgbClr val="F8FAFD"/>
                </a:solidFill>
              </a:defRPr>
            </a:defPPr>
          </a:lstStyle>
          <a:p xmlns:a="http://schemas.openxmlformats.org/drawingml/2006/main">
            <a:pPr algn="ctr">
              <a:defRPr sz="1350" b="0">
                <a:solidFill>
                  <a:srgbClr val="F8FAFD"/>
                </a:solidFill>
              </a:defRPr>
            </a:pPr>
            <a:r>
              <a:rPr sz="1350" b="0">
                <a:solidFill>
                  <a:srgbClr val="F8FAFD"/>
                </a:solidFill>
              </a:rPr>
              <a:t>Sigmoid</a:t>
            </a:r>
          </a:p>
        </p:txBody>
      </p:sp>
      <p:cxnSp>
        <p:nvCxnSpPr>
          <p:cNvPr id="38" name="">
            <a:extLst xmlns:a="http://schemas.openxmlformats.org/drawingml/2006/main">
              <a:ext uri="{FF2B5EF4-FFF2-40B4-BE49-F238E27FC236}">
                <a16:creationId xmlns:a16="http://schemas.microsoft.com/office/drawing/2014/main" id="{84ADE04F-CDF2-47B2-B361-7B2080696476}"/>
              </a:ext>
            </a:extLst>
          </p:cNvPr>
          <p:cNvCxnSpPr>
            <a:stCxn xmlns:a="http://schemas.openxmlformats.org/drawingml/2006/main" id="15" idx="2"/>
            <a:endCxn xmlns:a="http://schemas.openxmlformats.org/drawingml/2006/main" id="32" idx="0"/>
          </p:cNvCxnSpPr>
          <p:nvPr/>
        </p:nvCxnSpPr>
        <p:spPr>
          <a:xfrm xmlns:a="http://schemas.openxmlformats.org/drawingml/2006/main">
            <a:off x="6153150" y="2924175"/>
            <a:ext cx="0" cy="1219200"/>
          </a:xfrm>
          <a:prstGeom xmlns:a="http://schemas.openxmlformats.org/drawingml/2006/main" prst="straightConnector1">
            <a:avLst/>
          </a:prstGeom>
          <a:ln xmlns:a="http://schemas.openxmlformats.org/drawingml/2006/main" w="19050">
            <a:solidFill>
              <a:srgbClr val="53D0C8"/>
            </a:solidFill>
            <a:tailEnd type="triangle" w="med" len="med"/>
          </a:ln>
        </p:spPr>
      </p:cxnSp>
      <p:cxnSp>
        <p:nvCxnSpPr>
          <p:cNvPr id="39" name="">
            <a:extLst xmlns:a="http://schemas.openxmlformats.org/drawingml/2006/main">
              <a:ext uri="{FF2B5EF4-FFF2-40B4-BE49-F238E27FC236}">
                <a16:creationId xmlns:a16="http://schemas.microsoft.com/office/drawing/2014/main" id="{D83C5F3C-D230-489D-89A8-EBC531D2EED2}"/>
              </a:ext>
            </a:extLst>
          </p:cNvPr>
          <p:cNvCxnSpPr>
            <a:stCxn xmlns:a="http://schemas.openxmlformats.org/drawingml/2006/main" id="29" idx="3"/>
            <a:endCxn xmlns:a="http://schemas.openxmlformats.org/drawingml/2006/main" id="32" idx="1"/>
          </p:cNvCxnSpPr>
          <p:nvPr/>
        </p:nvCxnSpPr>
        <p:spPr>
          <a:xfrm xmlns:a="http://schemas.openxmlformats.org/drawingml/2006/main">
            <a:off x="4695825" y="4619625"/>
            <a:ext cx="457200" cy="0"/>
          </a:xfrm>
          <a:prstGeom xmlns:a="http://schemas.openxmlformats.org/drawingml/2006/main" prst="straightConnector1">
            <a:avLst/>
          </a:prstGeom>
          <a:ln xmlns:a="http://schemas.openxmlformats.org/drawingml/2006/main" w="19050">
            <a:solidFill>
              <a:srgbClr val="75B5D2"/>
            </a:solidFill>
            <a:tailEnd type="triangle" w="med" len="med"/>
          </a:ln>
        </p:spPr>
      </p:cxnSp>
      <p:cxnSp>
        <p:nvCxnSpPr>
          <p:cNvPr id="40" name="">
            <a:extLst xmlns:a="http://schemas.openxmlformats.org/drawingml/2006/main">
              <a:ext uri="{FF2B5EF4-FFF2-40B4-BE49-F238E27FC236}">
                <a16:creationId xmlns:a16="http://schemas.microsoft.com/office/drawing/2014/main" id="{DE72C791-F16D-45EF-9853-557D36860B0B}"/>
              </a:ext>
            </a:extLst>
          </p:cNvPr>
          <p:cNvCxnSpPr>
            <a:stCxn xmlns:a="http://schemas.openxmlformats.org/drawingml/2006/main" id="32" idx="3"/>
            <a:endCxn xmlns:a="http://schemas.openxmlformats.org/drawingml/2006/main" id="35" idx="1"/>
          </p:cNvCxnSpPr>
          <p:nvPr/>
        </p:nvCxnSpPr>
        <p:spPr>
          <a:xfrm xmlns:a="http://schemas.openxmlformats.org/drawingml/2006/main">
            <a:off x="7153275" y="4619625"/>
            <a:ext cx="742950" cy="0"/>
          </a:xfrm>
          <a:prstGeom xmlns:a="http://schemas.openxmlformats.org/drawingml/2006/main" prst="straightConnector1">
            <a:avLst/>
          </a:prstGeom>
          <a:ln xmlns:a="http://schemas.openxmlformats.org/drawingml/2006/main" w="19050">
            <a:solidFill>
              <a:srgbClr val="BECBD6"/>
            </a:solidFill>
            <a:tailEnd type="triangle" w="med" len="med"/>
          </a:ln>
        </p:spPr>
      </p:cxnSp>
      <p:sp>
        <p:nvSpPr>
          <p:cNvPr id="41" name="mean-label">
            <a:extLst xmlns:a="http://schemas.openxmlformats.org/drawingml/2006/main">
              <a:ext uri="{FF2B5EF4-FFF2-40B4-BE49-F238E27FC236}">
                <a16:creationId xmlns:a16="http://schemas.microsoft.com/office/drawing/2014/main" id="{3442FE90-C0AD-4A83-A2B1-8546D30ABBD4}"/>
              </a:ext>
            </a:extLst>
          </p:cNvPr>
          <p:cNvSpPr>
            <a:spLocks xmlns:a="http://schemas.openxmlformats.org/drawingml/2006/main" noGrp="1"/>
          </p:cNvSpPr>
          <p:nvPr/>
        </p:nvSpPr>
        <p:spPr>
          <a:xfrm xmlns:a="http://schemas.openxmlformats.org/drawingml/2006/main">
            <a:off x="6315075" y="3362325"/>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425" b="0">
                <a:solidFill>
                  <a:srgbClr val="53D0C8"/>
                </a:solidFill>
              </a:defRPr>
            </a:defPPr>
          </a:lstStyle>
          <a:p xmlns:a="http://schemas.openxmlformats.org/drawingml/2006/main">
            <a:pPr algn="l">
              <a:defRPr sz="1425" b="0">
                <a:solidFill>
                  <a:srgbClr val="53D0C8"/>
                </a:solidFill>
              </a:defRPr>
            </a:pPr>
            <a:r>
              <a:rPr sz="1425" b="0">
                <a:solidFill>
                  <a:srgbClr val="53D0C8"/>
                </a:solidFill>
              </a:rPr>
              <a:t>mean μ</a:t>
            </a:r>
          </a:p>
        </p:txBody>
      </p:sp>
      <p:sp>
        <p:nvSpPr>
          <p:cNvPr id="42" name="split-caption">
            <a:extLst xmlns:a="http://schemas.openxmlformats.org/drawingml/2006/main">
              <a:ext uri="{FF2B5EF4-FFF2-40B4-BE49-F238E27FC236}">
                <a16:creationId xmlns:a16="http://schemas.microsoft.com/office/drawing/2014/main" id="{4803155C-C72C-4472-8D13-08974C6F3E5E}"/>
              </a:ext>
            </a:extLst>
          </p:cNvPr>
          <p:cNvSpPr>
            <a:spLocks xmlns:a="http://schemas.openxmlformats.org/drawingml/2006/main" noGrp="1"/>
          </p:cNvSpPr>
          <p:nvPr/>
        </p:nvSpPr>
        <p:spPr>
          <a:xfrm xmlns:a="http://schemas.openxmlformats.org/drawingml/2006/main">
            <a:off x="781050" y="56197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53D0C8"/>
                </a:solidFill>
              </a:defRPr>
            </a:defPPr>
          </a:lstStyle>
          <a:p xmlns:a="http://schemas.openxmlformats.org/drawingml/2006/main">
            <a:pPr algn="l">
              <a:defRPr sz="1875" b="1">
                <a:solidFill>
                  <a:srgbClr val="53D0C8"/>
                </a:solidFill>
              </a:defRPr>
            </a:pPr>
            <a:r>
              <a:rPr sz="1875" b="1">
                <a:solidFill>
                  <a:srgbClr val="53D0C8"/>
                </a:solidFill>
              </a:rPr>
              <a:t>521 train / 174 validation</a:t>
            </a:r>
          </a:p>
        </p:txBody>
      </p:sp>
      <p:sp>
        <p:nvSpPr>
          <p:cNvPr id="43" name="loss-caption">
            <a:extLst xmlns:a="http://schemas.openxmlformats.org/drawingml/2006/main">
              <a:ext uri="{FF2B5EF4-FFF2-40B4-BE49-F238E27FC236}">
                <a16:creationId xmlns:a16="http://schemas.microsoft.com/office/drawing/2014/main" id="{247664DB-1A75-446D-8634-F41761CAFFF5}"/>
              </a:ext>
            </a:extLst>
          </p:cNvPr>
          <p:cNvSpPr>
            <a:spLocks xmlns:a="http://schemas.openxmlformats.org/drawingml/2006/main" noGrp="1"/>
          </p:cNvSpPr>
          <p:nvPr/>
        </p:nvSpPr>
        <p:spPr>
          <a:xfrm xmlns:a="http://schemas.openxmlformats.org/drawingml/2006/main">
            <a:off x="5734050" y="5619750"/>
            <a:ext cx="57054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BECBD6"/>
                </a:solidFill>
              </a:defRPr>
            </a:defPPr>
          </a:lstStyle>
          <a:p xmlns:a="http://schemas.openxmlformats.org/drawingml/2006/main">
            <a:pPr algn="l">
              <a:defRPr sz="1725" b="0">
                <a:solidFill>
                  <a:srgbClr val="BECBD6"/>
                </a:solidFill>
              </a:defRPr>
            </a:pPr>
            <a:r>
              <a:rPr sz="1725" b="0">
                <a:solidFill>
                  <a:srgbClr val="BECBD6"/>
                </a:solidFill>
              </a:rPr>
              <a:t>Reconstruction + KL + classification loss</a:t>
            </a:r>
          </a:p>
        </p:txBody>
      </p:sp>
    </p:spTree>
    <p:extLst>
      <p:ext uri="{BB962C8B-B14F-4D97-AF65-F5344CB8AC3E}">
        <p14:creationId xmlns:p14="http://schemas.microsoft.com/office/powerpoint/2010/main" val="7187681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B50C190-E1DD-4AA8-814D-BC6CD241508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C192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CBB65B38-F18B-4212-8177-894D9256D096}"/>
              </a:ext>
            </a:extLst>
          </p:cNvPr>
          <p:cNvSpPr>
            <a:spLocks xmlns:a="http://schemas.openxmlformats.org/drawingml/2006/main" noGrp="1"/>
          </p:cNvSpPr>
          <p:nvPr/>
        </p:nvSpPr>
        <p:spPr>
          <a:xfrm xmlns:a="http://schemas.openxmlformats.org/drawingml/2006/main">
            <a:off x="502920" y="493776"/>
            <a:ext cx="64008" cy="411480"/>
          </a:xfrm>
          <a:prstGeom xmlns:a="http://schemas.openxmlformats.org/drawingml/2006/main" prst="rect">
            <a:avLst/>
          </a:prstGeom>
          <a:solidFill xmlns:a="http://schemas.openxmlformats.org/drawingml/2006/main">
            <a:srgbClr val="009B9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705F98E6-DA4F-4885-9BB9-65DCFB8E8AD4}"/>
              </a:ext>
            </a:extLst>
          </p:cNvPr>
          <p:cNvSpPr>
            <a:spLocks xmlns:a="http://schemas.openxmlformats.org/drawingml/2006/main" noGrp="1"/>
          </p:cNvSpPr>
          <p:nvPr/>
        </p:nvSpPr>
        <p:spPr>
          <a:xfrm xmlns:a="http://schemas.openxmlformats.org/drawingml/2006/main">
            <a:off x="749808" y="365760"/>
            <a:ext cx="10789920" cy="509016"/>
          </a:xfrm>
          <a:prstGeom xmlns:a="http://schemas.openxmlformats.org/drawingml/2006/main" prst="rect">
            <a:avLst/>
          </a:prstGeom>
          <a:noFill xmlns:a="http://schemas.openxmlformats.org/drawingml/2006/main"/>
        </p:spPr>
        <p:txBody>
          <a:bodyPr xmlns:a="http://schemas.openxmlformats.org/drawingml/2006/main" wrap="square" lIns="27432" tIns="36576" rIns="27432">
            <a:spAutoFit/>
          </a:bodyPr>
          <a:lstStyle xmlns:a="http://schemas.openxmlformats.org/drawingml/2006/main"/>
          <a:p xmlns:a="http://schemas.openxmlformats.org/drawingml/2006/main">
            <a:pPr algn="l">
              <a:spcAft>
                <a:spcPts val="600"/>
              </a:spcAft>
              <a:buNone/>
              <a:defRPr sz="2800" b="1">
                <a:solidFill>
                  <a:srgbClr val="F8FAFD"/>
                </a:solidFill>
              </a:defRPr>
            </a:pPr>
            <a:r>
              <a:t>VAE: results on 100 test patients</a:t>
            </a:r>
          </a:p>
        </p:txBody>
      </p:sp>
      <p:sp>
        <p:nvSpPr>
          <p:cNvPr id="5" name="TextBox 4">
            <a:extLst xmlns:a="http://schemas.openxmlformats.org/drawingml/2006/main">
              <a:ext uri="{FF2B5EF4-FFF2-40B4-BE49-F238E27FC236}">
                <a16:creationId xmlns:a16="http://schemas.microsoft.com/office/drawing/2014/main" id="{93D1B169-FF20-49D7-B6A4-DC083D8AE1A7}"/>
              </a:ext>
            </a:extLst>
          </p:cNvPr>
          <p:cNvSpPr>
            <a:spLocks xmlns:a="http://schemas.openxmlformats.org/drawingml/2006/main" noGrp="1"/>
          </p:cNvSpPr>
          <p:nvPr/>
        </p:nvSpPr>
        <p:spPr>
          <a:xfrm xmlns:a="http://schemas.openxmlformats.org/drawingml/2006/main">
            <a:off x="749808" y="932688"/>
            <a:ext cx="10058400" cy="265176"/>
          </a:xfrm>
          <a:prstGeom xmlns:a="http://schemas.openxmlformats.org/drawingml/2006/main" prst="rect">
            <a:avLst/>
          </a:prstGeom>
          <a:noFill xmlns:a="http://schemas.openxmlformats.org/drawingml/2006/main"/>
        </p:spPr>
        <p:txBody>
          <a:bodyPr xmlns:a="http://schemas.openxmlformats.org/drawingml/2006/main" wrap="square" lIns="27432" tIns="36576" rIns="27432">
            <a:spAutoFit/>
          </a:bodyPr>
          <a:lstStyle xmlns:a="http://schemas.openxmlformats.org/drawingml/2006/main"/>
          <a:p xmlns:a="http://schemas.openxmlformats.org/drawingml/2006/main">
            <a:pPr algn="l">
              <a:spcAft>
                <a:spcPts val="600"/>
              </a:spcAft>
              <a:buNone/>
              <a:defRPr sz="1200" b="0">
                <a:solidFill>
                  <a:srgbClr val="BECBD6"/>
                </a:solidFill>
              </a:defRPr>
            </a:pPr>
            <a:r>
              <a:t>Separate labelled test set, decision threshold 0.5</a:t>
            </a:r>
          </a:p>
        </p:txBody>
      </p:sp>
      <p:sp>
        <p:nvSpPr>
          <p:cNvPr id="6" name="Rectangle 5">
            <a:extLst xmlns:a="http://schemas.openxmlformats.org/drawingml/2006/main">
              <a:ext uri="{FF2B5EF4-FFF2-40B4-BE49-F238E27FC236}">
                <a16:creationId xmlns:a16="http://schemas.microsoft.com/office/drawing/2014/main" id="{D7302D72-2291-458D-BD0C-0C45E393EC59}"/>
              </a:ext>
            </a:extLst>
          </p:cNvPr>
          <p:cNvSpPr>
            <a:spLocks xmlns:a="http://schemas.openxmlformats.org/drawingml/2006/main" noGrp="1"/>
          </p:cNvSpPr>
          <p:nvPr/>
        </p:nvSpPr>
        <p:spPr>
          <a:xfrm xmlns:a="http://schemas.openxmlformats.org/drawingml/2006/main">
            <a:off x="594360" y="6437376"/>
            <a:ext cx="11018520" cy="15544"/>
          </a:xfrm>
          <a:prstGeom xmlns:a="http://schemas.openxmlformats.org/drawingml/2006/main" prst="rect">
            <a:avLst/>
          </a:prstGeom>
          <a:solidFill xmlns:a="http://schemas.openxmlformats.org/drawingml/2006/main">
            <a:srgbClr val="41566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9B776CC8-1489-4F6A-BEB0-6D2D827B5868}"/>
              </a:ext>
            </a:extLst>
          </p:cNvPr>
          <p:cNvSpPr>
            <a:spLocks xmlns:a="http://schemas.openxmlformats.org/drawingml/2006/main" noGrp="1"/>
          </p:cNvSpPr>
          <p:nvPr/>
        </p:nvSpPr>
        <p:spPr>
          <a:xfrm xmlns:a="http://schemas.openxmlformats.org/drawingml/2006/main">
            <a:off x="685800" y="6483096"/>
            <a:ext cx="9144000" cy="228600"/>
          </a:xfrm>
          <a:prstGeom xmlns:a="http://schemas.openxmlformats.org/drawingml/2006/main" prst="rect">
            <a:avLst/>
          </a:prstGeom>
          <a:noFill xmlns:a="http://schemas.openxmlformats.org/drawingml/2006/main"/>
        </p:spPr>
        <p:txBody>
          <a:bodyPr xmlns:a="http://schemas.openxmlformats.org/drawingml/2006/main" wrap="square" lIns="27432" tIns="36576" rIns="27432">
            <a:spAutoFit/>
          </a:bodyPr>
          <a:lstStyle xmlns:a="http://schemas.openxmlformats.org/drawingml/2006/main"/>
          <a:p xmlns:a="http://schemas.openxmlformats.org/drawingml/2006/main">
            <a:pPr algn="l">
              <a:spcAft>
                <a:spcPts val="600"/>
              </a:spcAft>
              <a:buNone/>
              <a:defRPr sz="900" b="0">
                <a:solidFill>
                  <a:srgbClr val="BECBD6"/>
                </a:solidFill>
              </a:defRPr>
            </a:pPr>
            <a:r>
              <a:t>MI classification · exploratory pipeline · group presentation</a:t>
            </a:r>
          </a:p>
        </p:txBody>
      </p:sp>
      <p:sp>
        <p:nvSpPr>
          <p:cNvPr id="8" name="TextBox 7">
            <a:extLst xmlns:a="http://schemas.openxmlformats.org/drawingml/2006/main">
              <a:ext uri="{FF2B5EF4-FFF2-40B4-BE49-F238E27FC236}">
                <a16:creationId xmlns:a16="http://schemas.microsoft.com/office/drawing/2014/main" id="{054249B9-1AA9-4E94-B2DB-C1CB4705362D}"/>
              </a:ext>
            </a:extLst>
          </p:cNvPr>
          <p:cNvSpPr>
            <a:spLocks xmlns:a="http://schemas.openxmlformats.org/drawingml/2006/main" noGrp="1"/>
          </p:cNvSpPr>
          <p:nvPr/>
        </p:nvSpPr>
        <p:spPr>
          <a:xfrm xmlns:a="http://schemas.openxmlformats.org/drawingml/2006/main">
            <a:off x="11128248" y="6483096"/>
            <a:ext cx="365760" cy="228600"/>
          </a:xfrm>
          <a:prstGeom xmlns:a="http://schemas.openxmlformats.org/drawingml/2006/main" prst="rect">
            <a:avLst/>
          </a:prstGeom>
          <a:noFill xmlns:a="http://schemas.openxmlformats.org/drawingml/2006/main"/>
        </p:spPr>
        <p:txBody>
          <a:bodyPr xmlns:a="http://schemas.openxmlformats.org/drawingml/2006/main" wrap="square" lIns="27432" tIns="36576" rIns="27432">
            <a:spAutoFit/>
          </a:bodyPr>
          <a:lstStyle xmlns:a="http://schemas.openxmlformats.org/drawingml/2006/main"/>
          <a:p xmlns:a="http://schemas.openxmlformats.org/drawingml/2006/main">
            <a:pPr algn="l">
              <a:spcAft>
                <a:spcPts val="600"/>
              </a:spcAft>
              <a:buNone/>
              <a:defRPr sz="900" b="0">
                <a:solidFill>
                  <a:srgbClr val="BECBD6"/>
                </a:solidFill>
              </a:defRPr>
            </a:pPr>
            <a:r>
              <a:t>06</a:t>
            </a:r>
          </a:p>
        </p:txBody>
      </p:sp>
      <p:sp>
        <p:nvSpPr>
          <p:cNvPr id="9" name="matrix-title">
            <a:extLst xmlns:a="http://schemas.openxmlformats.org/drawingml/2006/main">
              <a:ext uri="{FF2B5EF4-FFF2-40B4-BE49-F238E27FC236}">
                <a16:creationId xmlns:a16="http://schemas.microsoft.com/office/drawing/2014/main" id="{CDF96FFC-8EC6-4E70-BDD7-7BDD2A9BDE99}"/>
              </a:ext>
            </a:extLst>
          </p:cNvPr>
          <p:cNvSpPr>
            <a:spLocks xmlns:a="http://schemas.openxmlformats.org/drawingml/2006/main" noGrp="1"/>
          </p:cNvSpPr>
          <p:nvPr/>
        </p:nvSpPr>
        <p:spPr>
          <a:xfrm xmlns:a="http://schemas.openxmlformats.org/drawingml/2006/main">
            <a:off x="781050" y="15811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F8FAFD"/>
                </a:solidFill>
              </a:defRPr>
            </a:defPPr>
          </a:lstStyle>
          <a:p xmlns:a="http://schemas.openxmlformats.org/drawingml/2006/main">
            <a:pPr algn="l">
              <a:defRPr sz="2100" b="1">
                <a:solidFill>
                  <a:srgbClr val="F8FAFD"/>
                </a:solidFill>
              </a:defRPr>
            </a:pPr>
            <a:r>
              <a:rPr sz="2100" b="1">
                <a:solidFill>
                  <a:srgbClr val="F8FAFD"/>
                </a:solidFill>
              </a:rPr>
              <a:t>Confusion matrix</a:t>
            </a:r>
          </a:p>
        </p:txBody>
      </p:sp>
      <p:sp>
        <p:nvSpPr>
          <p:cNvPr id="10" name="predicted-axis">
            <a:extLst xmlns:a="http://schemas.openxmlformats.org/drawingml/2006/main">
              <a:ext uri="{FF2B5EF4-FFF2-40B4-BE49-F238E27FC236}">
                <a16:creationId xmlns:a16="http://schemas.microsoft.com/office/drawing/2014/main" id="{7CC2D115-A2CD-4C9D-AF32-BEB0925ECAFC}"/>
              </a:ext>
            </a:extLst>
          </p:cNvPr>
          <p:cNvSpPr>
            <a:spLocks xmlns:a="http://schemas.openxmlformats.org/drawingml/2006/main" noGrp="1"/>
          </p:cNvSpPr>
          <p:nvPr/>
        </p:nvSpPr>
        <p:spPr>
          <a:xfrm xmlns:a="http://schemas.openxmlformats.org/drawingml/2006/main">
            <a:off x="2628900" y="208597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425" b="0">
                <a:solidFill>
                  <a:srgbClr val="BECBD6"/>
                </a:solidFill>
              </a:defRPr>
            </a:defPPr>
          </a:lstStyle>
          <a:p xmlns:a="http://schemas.openxmlformats.org/drawingml/2006/main">
            <a:pPr algn="ctr">
              <a:defRPr sz="1425" b="0">
                <a:solidFill>
                  <a:srgbClr val="BECBD6"/>
                </a:solidFill>
              </a:defRPr>
            </a:pPr>
            <a:r>
              <a:rPr sz="1425" b="0">
                <a:solidFill>
                  <a:srgbClr val="BECBD6"/>
                </a:solidFill>
              </a:rPr>
              <a:t>Predicted</a:t>
            </a:r>
          </a:p>
        </p:txBody>
      </p:sp>
      <p:graphicFrame>
        <p:nvGraphicFramePr>
          <p:cNvPr id="11" name="">
            <a:extLst xmlns:a="http://schemas.openxmlformats.org/drawingml/2006/main">
              <a:ext uri="{FF2B5EF4-FFF2-40B4-BE49-F238E27FC236}">
                <a16:creationId xmlns:a16="http://schemas.microsoft.com/office/drawing/2014/main" id="{2BBE9CD8-62B6-4241-ACF3-0A6C08A2E9D9}"/>
              </a:ext>
            </a:extLst>
          </p:cNvPr>
          <p:cNvGraphicFramePr/>
          <p:nvPr/>
        </p:nvGraphicFramePr>
        <p:xfrm>
          <a:off xmlns:a="http://schemas.openxmlformats.org/drawingml/2006/main" x="781050" y="2428875"/>
          <a:ext xmlns:a="http://schemas.openxmlformats.org/drawingml/2006/main" cx="5276850" cy="2590800"/>
        </p:xfrm>
        <a:graphic xmlns:a="http://schemas.openxmlformats.org/drawingml/2006/main">
          <a:graphicData uri="http://schemas.openxmlformats.org/drawingml/2006/table">
            <a:tbl>
              <a:tblPr firstRow="0" firstCol="0" bandRow="0" bandCol="0"/>
              <a:tblGrid>
                <a:gridCol w="1847850"/>
                <a:gridCol w="1714500"/>
                <a:gridCol w="1714500"/>
              </a:tblGrid>
              <a:tr h="533400">
                <a:tc>
                  <a:txBody>
                    <a:bodyPr/>
                    <a:lstStyle/>
                    <a:p>
                      <a:pPr algn="ctr"/>
                      <a:r>
                        <a:rPr sz="1725" b="0">
                          <a:solidFill>
                            <a:srgbClr val="BECBD6"/>
                          </a:solidFill>
                        </a:rPr>
                        <a:t>Actual</a:t>
                      </a:r>
                    </a:p>
                  </a:txBody>
                  <a:tcPr marL="91440" marR="91440" marT="45720" marB="45720">
                    <a:lnL w="38100">
                      <a:solidFill>
                        <a:srgbClr val="0C192E"/>
                      </a:solidFill>
                      <a:prstDash val="solid"/>
                    </a:lnL>
                    <a:lnR w="38100">
                      <a:solidFill>
                        <a:srgbClr val="0C192E"/>
                      </a:solidFill>
                      <a:prstDash val="solid"/>
                    </a:lnR>
                    <a:lnT w="38100">
                      <a:solidFill>
                        <a:srgbClr val="0C192E"/>
                      </a:solidFill>
                      <a:prstDash val="solid"/>
                    </a:lnT>
                    <a:lnB w="38100">
                      <a:solidFill>
                        <a:srgbClr val="0C192E"/>
                      </a:solidFill>
                      <a:prstDash val="solid"/>
                    </a:lnB>
                    <a:solidFill>
                      <a:srgbClr val="0C192E"/>
                    </a:solidFill>
                  </a:tcPr>
                </a:tc>
                <a:tc>
                  <a:txBody>
                    <a:bodyPr/>
                    <a:lstStyle/>
                    <a:p>
                      <a:pPr algn="ctr"/>
                      <a:r>
                        <a:rPr sz="1725" b="0">
                          <a:solidFill>
                            <a:srgbClr val="BECBD6"/>
                          </a:solidFill>
                        </a:rPr>
                        <a:t>Healthy</a:t>
                      </a:r>
                    </a:p>
                  </a:txBody>
                  <a:tcPr marL="91440" marR="91440" marT="45720" marB="45720">
                    <a:lnR w="38100">
                      <a:solidFill>
                        <a:srgbClr val="0C192E"/>
                      </a:solidFill>
                      <a:prstDash val="solid"/>
                    </a:lnR>
                    <a:lnT w="38100">
                      <a:solidFill>
                        <a:srgbClr val="0C192E"/>
                      </a:solidFill>
                      <a:prstDash val="solid"/>
                    </a:lnT>
                    <a:lnB w="38100">
                      <a:solidFill>
                        <a:srgbClr val="0C192E"/>
                      </a:solidFill>
                      <a:prstDash val="solid"/>
                    </a:lnB>
                    <a:solidFill>
                      <a:srgbClr val="0C192E"/>
                    </a:solidFill>
                  </a:tcPr>
                </a:tc>
                <a:tc>
                  <a:txBody>
                    <a:bodyPr/>
                    <a:lstStyle/>
                    <a:p>
                      <a:pPr algn="ctr"/>
                      <a:r>
                        <a:rPr sz="1725" b="0">
                          <a:solidFill>
                            <a:srgbClr val="BECBD6"/>
                          </a:solidFill>
                        </a:rPr>
                        <a:t>pMI</a:t>
                      </a:r>
                    </a:p>
                  </a:txBody>
                  <a:tcPr marL="91440" marR="91440" marT="45720" marB="45720">
                    <a:lnR w="38100">
                      <a:solidFill>
                        <a:srgbClr val="0C192E"/>
                      </a:solidFill>
                      <a:prstDash val="solid"/>
                    </a:lnR>
                    <a:lnT w="38100">
                      <a:solidFill>
                        <a:srgbClr val="0C192E"/>
                      </a:solidFill>
                      <a:prstDash val="solid"/>
                    </a:lnT>
                    <a:lnB w="38100">
                      <a:solidFill>
                        <a:srgbClr val="0C192E"/>
                      </a:solidFill>
                      <a:prstDash val="solid"/>
                    </a:lnB>
                    <a:solidFill>
                      <a:srgbClr val="0C192E"/>
                    </a:solidFill>
                  </a:tcPr>
                </a:tc>
              </a:tr>
              <a:tr h="1028700">
                <a:tc>
                  <a:txBody>
                    <a:bodyPr/>
                    <a:lstStyle/>
                    <a:p>
                      <a:pPr algn="ctr"/>
                      <a:r>
                        <a:rPr sz="1725" b="0">
                          <a:solidFill>
                            <a:srgbClr val="BECBD6"/>
                          </a:solidFill>
                        </a:rPr>
                        <a:t>Healthy</a:t>
                      </a:r>
                    </a:p>
                  </a:txBody>
                  <a:tcPr marL="91440" marR="91440" marT="45720" marB="45720">
                    <a:lnL w="38100">
                      <a:solidFill>
                        <a:srgbClr val="0C192E"/>
                      </a:solidFill>
                      <a:prstDash val="solid"/>
                    </a:lnL>
                    <a:lnR w="38100">
                      <a:solidFill>
                        <a:srgbClr val="0C192E"/>
                      </a:solidFill>
                      <a:prstDash val="solid"/>
                    </a:lnR>
                    <a:lnB w="38100">
                      <a:solidFill>
                        <a:srgbClr val="0C192E"/>
                      </a:solidFill>
                      <a:prstDash val="solid"/>
                    </a:lnB>
                    <a:solidFill>
                      <a:srgbClr val="0C192E"/>
                    </a:solidFill>
                  </a:tcPr>
                </a:tc>
                <a:tc>
                  <a:txBody>
                    <a:bodyPr/>
                    <a:lstStyle/>
                    <a:p>
                      <a:pPr algn="ctr"/>
                      <a:r>
                        <a:rPr sz="3300" b="1">
                          <a:solidFill>
                            <a:srgbClr val="F8FAFD"/>
                          </a:solidFill>
                        </a:rPr>
                        <a:t>37</a:t>
                      </a:r>
                    </a:p>
                  </a:txBody>
                  <a:tcPr marL="91440" marR="91440" marT="45720" marB="45720">
                    <a:lnR w="38100">
                      <a:solidFill>
                        <a:srgbClr val="0C192E"/>
                      </a:solidFill>
                      <a:prstDash val="solid"/>
                    </a:lnR>
                    <a:lnB w="38100">
                      <a:solidFill>
                        <a:srgbClr val="0C192E"/>
                      </a:solidFill>
                      <a:prstDash val="solid"/>
                    </a:lnB>
                    <a:solidFill>
                      <a:srgbClr val="087F83"/>
                    </a:solidFill>
                  </a:tcPr>
                </a:tc>
                <a:tc>
                  <a:txBody>
                    <a:bodyPr/>
                    <a:lstStyle/>
                    <a:p>
                      <a:pPr algn="ctr"/>
                      <a:r>
                        <a:rPr sz="3300" b="1">
                          <a:solidFill>
                            <a:srgbClr val="F8FAFD"/>
                          </a:solidFill>
                        </a:rPr>
                        <a:t>11</a:t>
                      </a:r>
                    </a:p>
                  </a:txBody>
                  <a:tcPr marL="91440" marR="91440" marT="45720" marB="45720">
                    <a:lnR w="38100">
                      <a:solidFill>
                        <a:srgbClr val="0C192E"/>
                      </a:solidFill>
                      <a:prstDash val="solid"/>
                    </a:lnR>
                    <a:lnB w="38100">
                      <a:solidFill>
                        <a:srgbClr val="0C192E"/>
                      </a:solidFill>
                      <a:prstDash val="solid"/>
                    </a:lnB>
                    <a:solidFill>
                      <a:srgbClr val="3D2D39"/>
                    </a:solidFill>
                  </a:tcPr>
                </a:tc>
              </a:tr>
              <a:tr h="1028700">
                <a:tc>
                  <a:txBody>
                    <a:bodyPr/>
                    <a:lstStyle/>
                    <a:p>
                      <a:pPr algn="ctr"/>
                      <a:r>
                        <a:rPr sz="1725" b="0">
                          <a:solidFill>
                            <a:srgbClr val="BECBD6"/>
                          </a:solidFill>
                        </a:rPr>
                        <a:t>pMI</a:t>
                      </a:r>
                    </a:p>
                  </a:txBody>
                  <a:tcPr marL="91440" marR="91440" marT="45720" marB="45720">
                    <a:lnL w="38100">
                      <a:solidFill>
                        <a:srgbClr val="0C192E"/>
                      </a:solidFill>
                      <a:prstDash val="solid"/>
                    </a:lnL>
                    <a:lnR w="38100">
                      <a:solidFill>
                        <a:srgbClr val="0C192E"/>
                      </a:solidFill>
                      <a:prstDash val="solid"/>
                    </a:lnR>
                    <a:lnB w="38100">
                      <a:solidFill>
                        <a:srgbClr val="0C192E"/>
                      </a:solidFill>
                      <a:prstDash val="solid"/>
                    </a:lnB>
                    <a:solidFill>
                      <a:srgbClr val="0C192E"/>
                    </a:solidFill>
                  </a:tcPr>
                </a:tc>
                <a:tc>
                  <a:txBody>
                    <a:bodyPr/>
                    <a:lstStyle/>
                    <a:p>
                      <a:pPr algn="ctr"/>
                      <a:r>
                        <a:rPr sz="3300" b="1">
                          <a:solidFill>
                            <a:srgbClr val="F8FAFD"/>
                          </a:solidFill>
                        </a:rPr>
                        <a:t>8</a:t>
                      </a:r>
                    </a:p>
                  </a:txBody>
                  <a:tcPr marL="91440" marR="91440" marT="45720" marB="45720">
                    <a:lnR w="38100">
                      <a:solidFill>
                        <a:srgbClr val="0C192E"/>
                      </a:solidFill>
                      <a:prstDash val="solid"/>
                    </a:lnR>
                    <a:lnB w="38100">
                      <a:solidFill>
                        <a:srgbClr val="0C192E"/>
                      </a:solidFill>
                      <a:prstDash val="solid"/>
                    </a:lnB>
                    <a:solidFill>
                      <a:srgbClr val="3D2D39"/>
                    </a:solidFill>
                  </a:tcPr>
                </a:tc>
                <a:tc>
                  <a:txBody>
                    <a:bodyPr/>
                    <a:lstStyle/>
                    <a:p>
                      <a:pPr algn="ctr"/>
                      <a:r>
                        <a:rPr sz="3300" b="1">
                          <a:solidFill>
                            <a:srgbClr val="F8FAFD"/>
                          </a:solidFill>
                        </a:rPr>
                        <a:t>44</a:t>
                      </a:r>
                    </a:p>
                  </a:txBody>
                  <a:tcPr marL="91440" marR="91440" marT="45720" marB="45720">
                    <a:lnR w="38100">
                      <a:solidFill>
                        <a:srgbClr val="0C192E"/>
                      </a:solidFill>
                      <a:prstDash val="solid"/>
                    </a:lnR>
                    <a:lnB w="38100">
                      <a:solidFill>
                        <a:srgbClr val="0C192E"/>
                      </a:solidFill>
                      <a:prstDash val="solid"/>
                    </a:lnB>
                    <a:solidFill>
                      <a:srgbClr val="087F83"/>
                    </a:solidFill>
                  </a:tcPr>
                </a:tc>
              </a:tr>
            </a:tbl>
          </a:graphicData>
        </a:graphic>
      </p:graphicFrame>
      <p:sp>
        <p:nvSpPr>
          <p:cNvPr id="12" name="Macro-F1-value">
            <a:extLst xmlns:a="http://schemas.openxmlformats.org/drawingml/2006/main">
              <a:ext uri="{FF2B5EF4-FFF2-40B4-BE49-F238E27FC236}">
                <a16:creationId xmlns:a16="http://schemas.microsoft.com/office/drawing/2014/main" id="{AAD88504-484E-4B3B-95DF-307F93738322}"/>
              </a:ext>
            </a:extLst>
          </p:cNvPr>
          <p:cNvSpPr>
            <a:spLocks xmlns:a="http://schemas.openxmlformats.org/drawingml/2006/main" noGrp="1"/>
          </p:cNvSpPr>
          <p:nvPr/>
        </p:nvSpPr>
        <p:spPr>
          <a:xfrm xmlns:a="http://schemas.openxmlformats.org/drawingml/2006/main">
            <a:off x="7048500" y="1657350"/>
            <a:ext cx="2038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650" b="1">
                <a:solidFill>
                  <a:srgbClr val="53D0C8"/>
                </a:solidFill>
              </a:defRPr>
            </a:defPPr>
          </a:lstStyle>
          <a:p xmlns:a="http://schemas.openxmlformats.org/drawingml/2006/main">
            <a:pPr algn="l">
              <a:defRPr sz="4650" b="1">
                <a:solidFill>
                  <a:srgbClr val="53D0C8"/>
                </a:solidFill>
              </a:defRPr>
            </a:pPr>
            <a:r>
              <a:rPr sz="4650" b="1">
                <a:solidFill>
                  <a:srgbClr val="53D0C8"/>
                </a:solidFill>
              </a:rPr>
              <a:t>0.809</a:t>
            </a:r>
          </a:p>
        </p:txBody>
      </p:sp>
      <p:sp>
        <p:nvSpPr>
          <p:cNvPr id="13" name="Macro-F1-label">
            <a:extLst xmlns:a="http://schemas.openxmlformats.org/drawingml/2006/main">
              <a:ext uri="{FF2B5EF4-FFF2-40B4-BE49-F238E27FC236}">
                <a16:creationId xmlns:a16="http://schemas.microsoft.com/office/drawing/2014/main" id="{DF8E89D3-53D6-486A-9D98-99723D4C72C4}"/>
              </a:ext>
            </a:extLst>
          </p:cNvPr>
          <p:cNvSpPr>
            <a:spLocks xmlns:a="http://schemas.openxmlformats.org/drawingml/2006/main" noGrp="1"/>
          </p:cNvSpPr>
          <p:nvPr/>
        </p:nvSpPr>
        <p:spPr>
          <a:xfrm xmlns:a="http://schemas.openxmlformats.org/drawingml/2006/main">
            <a:off x="7048500" y="2466975"/>
            <a:ext cx="2038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ECBD6"/>
                </a:solidFill>
              </a:defRPr>
            </a:defPPr>
          </a:lstStyle>
          <a:p xmlns:a="http://schemas.openxmlformats.org/drawingml/2006/main">
            <a:pPr algn="l">
              <a:defRPr sz="1800" b="0">
                <a:solidFill>
                  <a:srgbClr val="BECBD6"/>
                </a:solidFill>
              </a:defRPr>
            </a:pPr>
            <a:r>
              <a:rPr sz="1800" b="0">
                <a:solidFill>
                  <a:srgbClr val="BECBD6"/>
                </a:solidFill>
              </a:rPr>
              <a:t>Macro-F1</a:t>
            </a:r>
          </a:p>
        </p:txBody>
      </p:sp>
      <p:sp>
        <p:nvSpPr>
          <p:cNvPr id="14" name="Accuracy-value">
            <a:extLst xmlns:a="http://schemas.openxmlformats.org/drawingml/2006/main">
              <a:ext uri="{FF2B5EF4-FFF2-40B4-BE49-F238E27FC236}">
                <a16:creationId xmlns:a16="http://schemas.microsoft.com/office/drawing/2014/main" id="{6A1A30D2-BE68-449A-BF48-E3E347391E2B}"/>
              </a:ext>
            </a:extLst>
          </p:cNvPr>
          <p:cNvSpPr>
            <a:spLocks xmlns:a="http://schemas.openxmlformats.org/drawingml/2006/main" noGrp="1"/>
          </p:cNvSpPr>
          <p:nvPr/>
        </p:nvSpPr>
        <p:spPr>
          <a:xfrm xmlns:a="http://schemas.openxmlformats.org/drawingml/2006/main">
            <a:off x="9525000" y="1657350"/>
            <a:ext cx="2038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650" b="1">
                <a:solidFill>
                  <a:srgbClr val="53D0C8"/>
                </a:solidFill>
              </a:defRPr>
            </a:defPPr>
          </a:lstStyle>
          <a:p xmlns:a="http://schemas.openxmlformats.org/drawingml/2006/main">
            <a:pPr algn="l">
              <a:defRPr sz="4650" b="1">
                <a:solidFill>
                  <a:srgbClr val="53D0C8"/>
                </a:solidFill>
              </a:defRPr>
            </a:pPr>
            <a:r>
              <a:rPr sz="4650" b="1">
                <a:solidFill>
                  <a:srgbClr val="53D0C8"/>
                </a:solidFill>
              </a:rPr>
              <a:t>81%</a:t>
            </a:r>
          </a:p>
        </p:txBody>
      </p:sp>
      <p:sp>
        <p:nvSpPr>
          <p:cNvPr id="15" name="Accuracy-label">
            <a:extLst xmlns:a="http://schemas.openxmlformats.org/drawingml/2006/main">
              <a:ext uri="{FF2B5EF4-FFF2-40B4-BE49-F238E27FC236}">
                <a16:creationId xmlns:a16="http://schemas.microsoft.com/office/drawing/2014/main" id="{CB482B4F-1E14-485B-9C93-B726E525747C}"/>
              </a:ext>
            </a:extLst>
          </p:cNvPr>
          <p:cNvSpPr>
            <a:spLocks xmlns:a="http://schemas.openxmlformats.org/drawingml/2006/main" noGrp="1"/>
          </p:cNvSpPr>
          <p:nvPr/>
        </p:nvSpPr>
        <p:spPr>
          <a:xfrm xmlns:a="http://schemas.openxmlformats.org/drawingml/2006/main">
            <a:off x="9525000" y="2466975"/>
            <a:ext cx="2038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ECBD6"/>
                </a:solidFill>
              </a:defRPr>
            </a:defPPr>
          </a:lstStyle>
          <a:p xmlns:a="http://schemas.openxmlformats.org/drawingml/2006/main">
            <a:pPr algn="l">
              <a:defRPr sz="1800" b="0">
                <a:solidFill>
                  <a:srgbClr val="BECBD6"/>
                </a:solidFill>
              </a:defRPr>
            </a:pPr>
            <a:r>
              <a:rPr sz="1800" b="0">
                <a:solidFill>
                  <a:srgbClr val="BECBD6"/>
                </a:solidFill>
              </a:rPr>
              <a:t>Accuracy</a:t>
            </a:r>
          </a:p>
        </p:txBody>
      </p:sp>
      <p:sp>
        <p:nvSpPr>
          <p:cNvPr id="16" name="pMI F1-value">
            <a:extLst xmlns:a="http://schemas.openxmlformats.org/drawingml/2006/main">
              <a:ext uri="{FF2B5EF4-FFF2-40B4-BE49-F238E27FC236}">
                <a16:creationId xmlns:a16="http://schemas.microsoft.com/office/drawing/2014/main" id="{220F87E4-4C45-4A96-A8F9-D81F472A4CAE}"/>
              </a:ext>
            </a:extLst>
          </p:cNvPr>
          <p:cNvSpPr>
            <a:spLocks xmlns:a="http://schemas.openxmlformats.org/drawingml/2006/main" noGrp="1"/>
          </p:cNvSpPr>
          <p:nvPr/>
        </p:nvSpPr>
        <p:spPr>
          <a:xfrm xmlns:a="http://schemas.openxmlformats.org/drawingml/2006/main">
            <a:off x="7048500" y="3400425"/>
            <a:ext cx="2038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650" b="1">
                <a:solidFill>
                  <a:srgbClr val="53D0C8"/>
                </a:solidFill>
              </a:defRPr>
            </a:defPPr>
          </a:lstStyle>
          <a:p xmlns:a="http://schemas.openxmlformats.org/drawingml/2006/main">
            <a:pPr algn="l">
              <a:defRPr sz="4650" b="1">
                <a:solidFill>
                  <a:srgbClr val="53D0C8"/>
                </a:solidFill>
              </a:defRPr>
            </a:pPr>
            <a:r>
              <a:rPr sz="4650" b="1">
                <a:solidFill>
                  <a:srgbClr val="53D0C8"/>
                </a:solidFill>
              </a:rPr>
              <a:t>0.822</a:t>
            </a:r>
          </a:p>
        </p:txBody>
      </p:sp>
      <p:sp>
        <p:nvSpPr>
          <p:cNvPr id="17" name="pMI F1-label">
            <a:extLst xmlns:a="http://schemas.openxmlformats.org/drawingml/2006/main">
              <a:ext uri="{FF2B5EF4-FFF2-40B4-BE49-F238E27FC236}">
                <a16:creationId xmlns:a16="http://schemas.microsoft.com/office/drawing/2014/main" id="{D788F973-8CEF-472A-8B7A-B084C355C9D0}"/>
              </a:ext>
            </a:extLst>
          </p:cNvPr>
          <p:cNvSpPr>
            <a:spLocks xmlns:a="http://schemas.openxmlformats.org/drawingml/2006/main" noGrp="1"/>
          </p:cNvSpPr>
          <p:nvPr/>
        </p:nvSpPr>
        <p:spPr>
          <a:xfrm xmlns:a="http://schemas.openxmlformats.org/drawingml/2006/main">
            <a:off x="7048500" y="4210050"/>
            <a:ext cx="2038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ECBD6"/>
                </a:solidFill>
              </a:defRPr>
            </a:defPPr>
          </a:lstStyle>
          <a:p xmlns:a="http://schemas.openxmlformats.org/drawingml/2006/main">
            <a:pPr algn="l">
              <a:defRPr sz="1800" b="0">
                <a:solidFill>
                  <a:srgbClr val="BECBD6"/>
                </a:solidFill>
              </a:defRPr>
            </a:pPr>
            <a:r>
              <a:rPr sz="1800" b="0">
                <a:solidFill>
                  <a:srgbClr val="BECBD6"/>
                </a:solidFill>
              </a:rPr>
              <a:t>pMI F1</a:t>
            </a:r>
          </a:p>
        </p:txBody>
      </p:sp>
      <p:sp>
        <p:nvSpPr>
          <p:cNvPr id="18" name="ROC-AUC-value">
            <a:extLst xmlns:a="http://schemas.openxmlformats.org/drawingml/2006/main">
              <a:ext uri="{FF2B5EF4-FFF2-40B4-BE49-F238E27FC236}">
                <a16:creationId xmlns:a16="http://schemas.microsoft.com/office/drawing/2014/main" id="{BA2114E5-6331-448F-BD12-F6783FF2A098}"/>
              </a:ext>
            </a:extLst>
          </p:cNvPr>
          <p:cNvSpPr>
            <a:spLocks xmlns:a="http://schemas.openxmlformats.org/drawingml/2006/main" noGrp="1"/>
          </p:cNvSpPr>
          <p:nvPr/>
        </p:nvSpPr>
        <p:spPr>
          <a:xfrm xmlns:a="http://schemas.openxmlformats.org/drawingml/2006/main">
            <a:off x="9525000" y="3400425"/>
            <a:ext cx="2038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4650" b="1">
                <a:solidFill>
                  <a:srgbClr val="53D0C8"/>
                </a:solidFill>
              </a:defRPr>
            </a:defPPr>
          </a:lstStyle>
          <a:p xmlns:a="http://schemas.openxmlformats.org/drawingml/2006/main">
            <a:pPr algn="l">
              <a:defRPr sz="4650" b="1">
                <a:solidFill>
                  <a:srgbClr val="53D0C8"/>
                </a:solidFill>
              </a:defRPr>
            </a:pPr>
            <a:r>
              <a:rPr sz="4650" b="1">
                <a:solidFill>
                  <a:srgbClr val="53D0C8"/>
                </a:solidFill>
              </a:rPr>
              <a:t>0.877</a:t>
            </a:r>
          </a:p>
        </p:txBody>
      </p:sp>
      <p:sp>
        <p:nvSpPr>
          <p:cNvPr id="19" name="ROC-AUC-label">
            <a:extLst xmlns:a="http://schemas.openxmlformats.org/drawingml/2006/main">
              <a:ext uri="{FF2B5EF4-FFF2-40B4-BE49-F238E27FC236}">
                <a16:creationId xmlns:a16="http://schemas.microsoft.com/office/drawing/2014/main" id="{85D63A19-4EA5-493C-9ACF-A8D5A9D59EAE}"/>
              </a:ext>
            </a:extLst>
          </p:cNvPr>
          <p:cNvSpPr>
            <a:spLocks xmlns:a="http://schemas.openxmlformats.org/drawingml/2006/main" noGrp="1"/>
          </p:cNvSpPr>
          <p:nvPr/>
        </p:nvSpPr>
        <p:spPr>
          <a:xfrm xmlns:a="http://schemas.openxmlformats.org/drawingml/2006/main">
            <a:off x="9525000" y="4210050"/>
            <a:ext cx="2038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0">
                <a:solidFill>
                  <a:srgbClr val="BECBD6"/>
                </a:solidFill>
              </a:defRPr>
            </a:defPPr>
          </a:lstStyle>
          <a:p xmlns:a="http://schemas.openxmlformats.org/drawingml/2006/main">
            <a:pPr algn="l">
              <a:defRPr sz="1800" b="0">
                <a:solidFill>
                  <a:srgbClr val="BECBD6"/>
                </a:solidFill>
              </a:defRPr>
            </a:pPr>
            <a:r>
              <a:rPr sz="1800" b="0">
                <a:solidFill>
                  <a:srgbClr val="BECBD6"/>
                </a:solidFill>
              </a:rPr>
              <a:t>ROC-AUC</a:t>
            </a:r>
          </a:p>
        </p:txBody>
      </p:sp>
      <p:sp>
        <p:nvSpPr>
          <p:cNvPr id="20" name="baseline-comparison">
            <a:extLst xmlns:a="http://schemas.openxmlformats.org/drawingml/2006/main">
              <a:ext uri="{FF2B5EF4-FFF2-40B4-BE49-F238E27FC236}">
                <a16:creationId xmlns:a16="http://schemas.microsoft.com/office/drawing/2014/main" id="{2C5F6A74-AE7A-405F-A260-D69D86E4CA33}"/>
              </a:ext>
            </a:extLst>
          </p:cNvPr>
          <p:cNvSpPr>
            <a:spLocks xmlns:a="http://schemas.openxmlformats.org/drawingml/2006/main" noGrp="1"/>
          </p:cNvSpPr>
          <p:nvPr/>
        </p:nvSpPr>
        <p:spPr>
          <a:xfrm xmlns:a="http://schemas.openxmlformats.org/drawingml/2006/main">
            <a:off x="781050" y="54483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F8FAFD"/>
                </a:solidFill>
              </a:defRPr>
            </a:defPPr>
          </a:lstStyle>
          <a:p xmlns:a="http://schemas.openxmlformats.org/drawingml/2006/main">
            <a:pPr algn="l">
              <a:defRPr sz="1875" b="0">
                <a:solidFill>
                  <a:srgbClr val="F8FAFD"/>
                </a:solidFill>
              </a:defRPr>
            </a:pPr>
            <a:r>
              <a:rPr sz="1875" b="0">
                <a:solidFill>
                  <a:srgbClr val="F8FAFD"/>
                </a:solidFill>
              </a:rPr>
              <a:t>Engineered features: 0.710 macro-F1</a:t>
            </a:r>
          </a:p>
        </p:txBody>
      </p:sp>
      <p:sp>
        <p:nvSpPr>
          <p:cNvPr id="21" name="limitation">
            <a:extLst xmlns:a="http://schemas.openxmlformats.org/drawingml/2006/main">
              <a:ext uri="{FF2B5EF4-FFF2-40B4-BE49-F238E27FC236}">
                <a16:creationId xmlns:a16="http://schemas.microsoft.com/office/drawing/2014/main" id="{EFD8A1A9-414F-4C70-9932-9A0A3F6496E2}"/>
              </a:ext>
            </a:extLst>
          </p:cNvPr>
          <p:cNvSpPr>
            <a:spLocks xmlns:a="http://schemas.openxmlformats.org/drawingml/2006/main" noGrp="1"/>
          </p:cNvSpPr>
          <p:nvPr/>
        </p:nvSpPr>
        <p:spPr>
          <a:xfrm xmlns:a="http://schemas.openxmlformats.org/drawingml/2006/main">
            <a:off x="781050" y="59436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BECBD6"/>
                </a:solidFill>
              </a:defRPr>
            </a:defPPr>
          </a:lstStyle>
          <a:p xmlns:a="http://schemas.openxmlformats.org/drawingml/2006/main">
            <a:pPr algn="l">
              <a:defRPr sz="1575" b="0">
                <a:solidFill>
                  <a:srgbClr val="BECBD6"/>
                </a:solidFill>
              </a:defRPr>
            </a:pPr>
            <a:r>
              <a:rPr sz="1575" b="0">
                <a:solidFill>
                  <a:srgbClr val="BECBD6"/>
                </a:solidFill>
              </a:rPr>
              <a:t>Synthetic data. Clinical validation still needed.</a:t>
            </a:r>
          </a:p>
        </p:txBody>
      </p:sp>
    </p:spTree>
    <p:extLst>
      <p:ext uri="{BB962C8B-B14F-4D97-AF65-F5344CB8AC3E}">
        <p14:creationId xmlns:p14="http://schemas.microsoft.com/office/powerpoint/2010/main" val="45740190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